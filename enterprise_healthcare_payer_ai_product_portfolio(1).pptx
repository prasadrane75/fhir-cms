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Thank you for your time. Rather than walk through my resume chronologically, I want to show how I think about enterprise healthcare products and AI transformation. The story is simple: understand the operating model, map the product portfolio, prioritize a roadmap, and measure outcomes. My experience across healthcare, claims, automation, and enterprise delivery gives me a practical view of what works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 keep this simple. I start with the operating problem, then show the portfolio of products, then explain concerns and KPIs, and finally show where AI belongs. This prevents the discussion from turning into a list of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 would position this as an operating model. Healthcare payer products are interdependent. Member eligibility feeds provider validation, prior authorization, claims, payment, encounter reporting, care analytics, and regulatory reporting. As a product leader, the key is to own the handoffs, not just the screen or the individual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portfolio view. I would not run these as 11 unrelated projects. I would organize them as connected products with clear ownership, product concerns, and KPIs. In a senior product role, I would use this chart to align business, engineering, data, clinical operations, compliance, and finance around measurable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 would start with the foundation because this is where expensive defects originate. If eligibility is wrong, claims deny incorrectly. If provider status is wrong, pricing and directories fail. In my healthcare delivery work, a lot of operational pain came from cross-system data dependency, not just front-end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clinical operations, I would emphasize workflow visibility and compliance. ADT creates real-time awareness. Prior authorization controls medical necessity and benefits before claims. Appeals and grievances protect fairness and regulatory obligations. Care management uses the data to improve outcomes. AI can help by summarizing evidence and prioritizing work, but decisions remain explainable and human-accountable.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Claims is the financial spine. An 837 claim flows through validation, eligibility, provider validation, rules, authorization matching, pricing, coordination of benefits, payment, and 835 remittance. For product leadership, the KPIs are auto-adjudication, accuracy, cycle time, denials, rework and recoveries.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where product leaders need to connect operations to regulatory reporting and analytics. Encounter data is a compliance product. The EDW is a trust product. It gives leadership one version of the truth and creates the data foundation needed for predictive analytics and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 would tell executives that I do not manage product health by features shipped. I manage it by operational, financial, clinical, compliance and technology metrics. For example, prior authorization success is not only turnaround time. It is turnaround time, accuracy, overturn rate, reviewer productivity and provider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I would avoid saying we automate healthcare decisions. The more credible message is that AI assists, prioritizes, detects and optimizes. It helps people handle volume and complexity. But the system must preserve human accountability, evidence lineage and explainability.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roadmap discipline. I would not start with predictive AI on day one. I would stabilize data and workflows, automate low-risk repeatable steps, then introduce intelligent recommendations, and finally optimize capacity and policy. This is how you deliver value incrementally while keeping compliance and trust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If there is one thing I want you to remember, it is that I do not see healthcare payer platforms as isolated applications. I see a connected operating system. My role as a product leader is to simplify that complexity, sequence the roadmap, align stakeholders, and introduce AI where it creates measurable, trusted business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6510528"/>
            <a:ext cx="11201400" cy="0"/>
          </a:xfrm>
          <a:prstGeom prst="line">
            <a:avLst/>
          </a:prstGeom>
          <a:noFill/>
          <a:ln w="10160">
            <a:solidFill>
              <a:srgbClr val="D4DAE6"/>
            </a:solidFill>
            <a:prstDash val="solid"/>
          </a:ln>
        </p:spPr>
      </p:sp>
      <p:sp>
        <p:nvSpPr>
          <p:cNvPr id="3" name="Text 1"/>
          <p:cNvSpPr/>
          <p:nvPr/>
        </p:nvSpPr>
        <p:spPr>
          <a:xfrm>
            <a:off x="594360" y="6565392"/>
            <a:ext cx="7863840" cy="164592"/>
          </a:xfrm>
          <a:prstGeom prst="rect">
            <a:avLst/>
          </a:prstGeom>
          <a:noFill/>
          <a:ln/>
        </p:spPr>
        <p:txBody>
          <a:bodyPr wrap="square" lIns="0" tIns="0" rIns="0" bIns="0" rtlCol="0" anchor="ctr"/>
          <a:lstStyle/>
          <a:p>
            <a:pPr indent="0" marL="0">
              <a:buNone/>
            </a:pPr>
            <a:r>
              <a:rPr lang="en-US" sz="670" dirty="0">
                <a:solidFill>
                  <a:srgbClr val="6B7280"/>
                </a:solidFill>
                <a:latin typeface="Aptos" pitchFamily="34" charset="0"/>
                <a:ea typeface="Aptos" pitchFamily="34" charset="-122"/>
                <a:cs typeface="Aptos" pitchFamily="34" charset="-120"/>
              </a:rPr>
              <a:t>Enterprise Healthcare Payer Platform · Product Portfolio &amp; AI Transformation</a:t>
            </a:r>
            <a:endParaRPr lang="en-US" sz="67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2" name="Shape 0"/>
          <p:cNvSpPr/>
          <p:nvPr/>
        </p:nvSpPr>
        <p:spPr>
          <a:xfrm>
            <a:off x="6400800" y="228600"/>
            <a:ext cx="5394960" cy="5394960"/>
          </a:xfrm>
          <a:prstGeom prst="arc">
            <a:avLst/>
          </a:prstGeom>
          <a:solidFill>
            <a:srgbClr val="13233A">
              <a:alpha val="0"/>
            </a:srgbClr>
          </a:solidFill>
          <a:ln w="25400">
            <a:solidFill>
              <a:srgbClr val="335476">
                <a:alpha val="35000"/>
              </a:srgbClr>
            </a:solidFill>
            <a:prstDash val="solid"/>
          </a:ln>
        </p:spPr>
      </p:sp>
      <p:sp>
        <p:nvSpPr>
          <p:cNvPr id="3" name="Shape 1"/>
          <p:cNvSpPr/>
          <p:nvPr/>
        </p:nvSpPr>
        <p:spPr>
          <a:xfrm>
            <a:off x="6858000" y="640080"/>
            <a:ext cx="4389120" cy="4389120"/>
          </a:xfrm>
          <a:prstGeom prst="arc">
            <a:avLst/>
          </a:prstGeom>
          <a:solidFill>
            <a:srgbClr val="13233A">
              <a:alpha val="0"/>
            </a:srgbClr>
          </a:solidFill>
          <a:ln w="15240">
            <a:solidFill>
              <a:srgbClr val="51B9E8">
                <a:alpha val="24000"/>
              </a:srgbClr>
            </a:solidFill>
            <a:prstDash val="solid"/>
          </a:ln>
        </p:spPr>
      </p:sp>
      <p:sp>
        <p:nvSpPr>
          <p:cNvPr id="4" name="Shape 2"/>
          <p:cNvSpPr/>
          <p:nvPr/>
        </p:nvSpPr>
        <p:spPr>
          <a:xfrm>
            <a:off x="658368" y="713232"/>
            <a:ext cx="2377440" cy="256032"/>
          </a:xfrm>
          <a:prstGeom prst="roundRect">
            <a:avLst>
              <a:gd name="adj" fmla="val 28571"/>
            </a:avLst>
          </a:prstGeom>
          <a:solidFill>
            <a:srgbClr val="DCEBFF"/>
          </a:solidFill>
          <a:ln w="12700">
            <a:solidFill>
              <a:srgbClr val="DCEBFF"/>
            </a:solidFill>
            <a:prstDash val="solid"/>
          </a:ln>
        </p:spPr>
      </p:sp>
      <p:sp>
        <p:nvSpPr>
          <p:cNvPr id="5" name="Text 3"/>
          <p:cNvSpPr/>
          <p:nvPr/>
        </p:nvSpPr>
        <p:spPr>
          <a:xfrm>
            <a:off x="731520" y="763524"/>
            <a:ext cx="2231136" cy="146304"/>
          </a:xfrm>
          <a:prstGeom prst="rect">
            <a:avLst/>
          </a:prstGeom>
          <a:noFill/>
          <a:ln/>
        </p:spPr>
        <p:txBody>
          <a:bodyPr wrap="square" lIns="0" tIns="0" rIns="0" bIns="0" rtlCol="0" anchor="ctr"/>
          <a:lstStyle/>
          <a:p>
            <a:pPr algn="ctr" indent="0" marL="0">
              <a:buNone/>
            </a:pPr>
            <a:r>
              <a:rPr lang="en-US" sz="680" b="1" dirty="0">
                <a:solidFill>
                  <a:srgbClr val="2563EB"/>
                </a:solidFill>
              </a:rPr>
              <a:t>30-minute executive product narrative</a:t>
            </a:r>
            <a:endParaRPr lang="en-US" sz="680" dirty="0"/>
          </a:p>
        </p:txBody>
      </p:sp>
      <p:sp>
        <p:nvSpPr>
          <p:cNvPr id="6" name="Text 4"/>
          <p:cNvSpPr/>
          <p:nvPr/>
        </p:nvSpPr>
        <p:spPr>
          <a:xfrm>
            <a:off x="658368" y="1325880"/>
            <a:ext cx="7772400" cy="548640"/>
          </a:xfrm>
          <a:prstGeom prst="rect">
            <a:avLst/>
          </a:prstGeom>
          <a:noFill/>
          <a:ln/>
        </p:spPr>
        <p:txBody>
          <a:bodyPr wrap="square" lIns="0" tIns="0" rIns="0" bIns="0" rtlCol="0" anchor="ct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Enterprise Healthcare Payer Platform</a:t>
            </a:r>
            <a:endParaRPr lang="en-US" sz="3200" dirty="0"/>
          </a:p>
        </p:txBody>
      </p:sp>
      <p:sp>
        <p:nvSpPr>
          <p:cNvPr id="7" name="Text 5"/>
          <p:cNvSpPr/>
          <p:nvPr/>
        </p:nvSpPr>
        <p:spPr>
          <a:xfrm>
            <a:off x="658368" y="1993392"/>
            <a:ext cx="7223760" cy="384048"/>
          </a:xfrm>
          <a:prstGeom prst="rect">
            <a:avLst/>
          </a:prstGeom>
          <a:noFill/>
          <a:ln/>
        </p:spPr>
        <p:txBody>
          <a:bodyPr wrap="square" lIns="0" tIns="0" rIns="0" bIns="0" rtlCol="0" anchor="ctr"/>
          <a:lstStyle/>
          <a:p>
            <a:pPr indent="0" marL="0">
              <a:buNone/>
            </a:pPr>
            <a:r>
              <a:rPr lang="en-US" sz="1800" dirty="0">
                <a:solidFill>
                  <a:srgbClr val="D5E8FF"/>
                </a:solidFill>
              </a:rPr>
              <a:t>Product Portfolio &amp; AI Transformation Roadmap</a:t>
            </a:r>
            <a:endParaRPr lang="en-US" sz="1800" dirty="0"/>
          </a:p>
        </p:txBody>
      </p:sp>
      <p:sp>
        <p:nvSpPr>
          <p:cNvPr id="8" name="Text 6"/>
          <p:cNvSpPr/>
          <p:nvPr/>
        </p:nvSpPr>
        <p:spPr>
          <a:xfrm>
            <a:off x="685800" y="2743200"/>
            <a:ext cx="6583680" cy="749808"/>
          </a:xfrm>
          <a:prstGeom prst="rect">
            <a:avLst/>
          </a:prstGeom>
          <a:noFill/>
          <a:ln/>
        </p:spPr>
        <p:txBody>
          <a:bodyPr wrap="square" lIns="254" tIns="254" rIns="254" bIns="254" rtlCol="0" anchor="ctr">
            <a:normAutofit/>
          </a:bodyPr>
          <a:lstStyle/>
          <a:p>
            <a:pPr indent="0" marL="0">
              <a:buNone/>
            </a:pPr>
            <a:r>
              <a:rPr lang="en-US" sz="1300" dirty="0">
                <a:solidFill>
                  <a:srgbClr val="ECF4FF"/>
                </a:solidFill>
              </a:rPr>
              <a:t>A product leadership view of 11 healthcare payer capabilities — from enrollment and claims to CMS reporting, payment integrity, analytics, and AI enablement.</a:t>
            </a:r>
            <a:endParaRPr lang="en-US" sz="1300" dirty="0"/>
          </a:p>
        </p:txBody>
      </p:sp>
      <p:sp>
        <p:nvSpPr>
          <p:cNvPr id="9" name="Shape 7"/>
          <p:cNvSpPr/>
          <p:nvPr/>
        </p:nvSpPr>
        <p:spPr>
          <a:xfrm>
            <a:off x="7955280" y="3675888"/>
            <a:ext cx="3291840" cy="1115568"/>
          </a:xfrm>
          <a:prstGeom prst="roundRect">
            <a:avLst>
              <a:gd name="adj" fmla="val 8197"/>
            </a:avLst>
          </a:prstGeom>
          <a:solidFill>
            <a:srgbClr val="172E4B"/>
          </a:solidFill>
          <a:ln w="11430">
            <a:solidFill>
              <a:srgbClr val="345D84"/>
            </a:solidFill>
            <a:prstDash val="solid"/>
          </a:ln>
        </p:spPr>
      </p:sp>
      <p:sp>
        <p:nvSpPr>
          <p:cNvPr id="10" name="Text 8"/>
          <p:cNvSpPr/>
          <p:nvPr/>
        </p:nvSpPr>
        <p:spPr>
          <a:xfrm>
            <a:off x="8211312" y="3886200"/>
            <a:ext cx="914400" cy="164592"/>
          </a:xfrm>
          <a:prstGeom prst="rect">
            <a:avLst/>
          </a:prstGeom>
          <a:noFill/>
          <a:ln/>
        </p:spPr>
        <p:txBody>
          <a:bodyPr wrap="square" lIns="0" tIns="0" rIns="0" bIns="0" rtlCol="0" anchor="ctr"/>
          <a:lstStyle/>
          <a:p>
            <a:pPr indent="0" marL="0">
              <a:buNone/>
            </a:pPr>
            <a:r>
              <a:rPr lang="en-US" sz="700" b="1" dirty="0">
                <a:solidFill>
                  <a:srgbClr val="A6C8ED"/>
                </a:solidFill>
              </a:rPr>
              <a:t>Presented as</a:t>
            </a:r>
            <a:endParaRPr lang="en-US" sz="700" dirty="0"/>
          </a:p>
        </p:txBody>
      </p:sp>
      <p:sp>
        <p:nvSpPr>
          <p:cNvPr id="11" name="Text 9"/>
          <p:cNvSpPr/>
          <p:nvPr/>
        </p:nvSpPr>
        <p:spPr>
          <a:xfrm>
            <a:off x="8211312" y="4096512"/>
            <a:ext cx="2468880" cy="292608"/>
          </a:xfrm>
          <a:prstGeom prst="rect">
            <a:avLst/>
          </a:prstGeom>
          <a:noFill/>
          <a:ln/>
        </p:spPr>
        <p:txBody>
          <a:bodyPr wrap="square" lIns="0" tIns="0" rIns="0" bIns="0" rtlCol="0" anchor="ctr"/>
          <a:lstStyle/>
          <a:p>
            <a:pPr indent="0" marL="0">
              <a:buNone/>
            </a:pPr>
            <a:r>
              <a:rPr lang="en-US" sz="1600" b="1" dirty="0">
                <a:solidFill>
                  <a:srgbClr val="FFFFFF"/>
                </a:solidFill>
              </a:rPr>
              <a:t>Senior Product Manager, AI</a:t>
            </a:r>
            <a:endParaRPr lang="en-US" sz="1600" dirty="0"/>
          </a:p>
        </p:txBody>
      </p:sp>
      <p:sp>
        <p:nvSpPr>
          <p:cNvPr id="12" name="Text 10"/>
          <p:cNvSpPr/>
          <p:nvPr/>
        </p:nvSpPr>
        <p:spPr>
          <a:xfrm>
            <a:off x="685800" y="5870448"/>
            <a:ext cx="3657600" cy="219456"/>
          </a:xfrm>
          <a:prstGeom prst="rect">
            <a:avLst/>
          </a:prstGeom>
          <a:noFill/>
          <a:ln/>
        </p:spPr>
        <p:txBody>
          <a:bodyPr wrap="square" lIns="0" tIns="0" rIns="0" bIns="0" rtlCol="0" anchor="ctr"/>
          <a:lstStyle/>
          <a:p>
            <a:pPr indent="0" marL="0">
              <a:buNone/>
            </a:pPr>
            <a:r>
              <a:rPr lang="en-US" sz="1100" b="1" dirty="0">
                <a:solidFill>
                  <a:srgbClr val="FFFFFF"/>
                </a:solidFill>
              </a:rPr>
              <a:t>Prasad Rane</a:t>
            </a:r>
            <a:endParaRPr lang="en-US" sz="110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A simple product story for a complex payer platform</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Use this sequence to keep the 30-minute presentation easy to follow.</a:t>
            </a:r>
            <a:endParaRPr lang="en-US" sz="950" dirty="0"/>
          </a:p>
        </p:txBody>
      </p:sp>
      <p:sp>
        <p:nvSpPr>
          <p:cNvPr id="4" name="Shape 2"/>
          <p:cNvSpPr/>
          <p:nvPr/>
        </p:nvSpPr>
        <p:spPr>
          <a:xfrm>
            <a:off x="731520" y="1508760"/>
            <a:ext cx="1965960" cy="3429000"/>
          </a:xfrm>
          <a:prstGeom prst="roundRect">
            <a:avLst>
              <a:gd name="adj" fmla="val 4651"/>
            </a:avLst>
          </a:prstGeom>
          <a:solidFill>
            <a:srgbClr val="EAF2FF"/>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859536" y="1719072"/>
            <a:ext cx="411480" cy="320040"/>
          </a:xfrm>
          <a:prstGeom prst="rect">
            <a:avLst/>
          </a:prstGeom>
          <a:noFill/>
          <a:ln/>
        </p:spPr>
        <p:txBody>
          <a:bodyPr wrap="square" lIns="0" tIns="0" rIns="0" bIns="0" rtlCol="0" anchor="ctr"/>
          <a:lstStyle/>
          <a:p>
            <a:pPr indent="0" marL="0">
              <a:buNone/>
            </a:pPr>
            <a:r>
              <a:rPr lang="en-US" sz="1700" b="1" dirty="0">
                <a:solidFill>
                  <a:srgbClr val="2563EB"/>
                </a:solidFill>
              </a:rPr>
              <a:t>1</a:t>
            </a:r>
            <a:endParaRPr lang="en-US" sz="1700" dirty="0"/>
          </a:p>
        </p:txBody>
      </p:sp>
      <p:sp>
        <p:nvSpPr>
          <p:cNvPr id="6" name="Text 4"/>
          <p:cNvSpPr/>
          <p:nvPr/>
        </p:nvSpPr>
        <p:spPr>
          <a:xfrm>
            <a:off x="877824" y="2212848"/>
            <a:ext cx="1572768" cy="411480"/>
          </a:xfrm>
          <a:prstGeom prst="rect">
            <a:avLst/>
          </a:prstGeom>
          <a:noFill/>
          <a:ln/>
        </p:spPr>
        <p:txBody>
          <a:bodyPr wrap="square" lIns="0" tIns="0" rIns="0" bIns="0" rtlCol="0" anchor="ctr">
            <a:normAutofit/>
          </a:bodyPr>
          <a:lstStyle/>
          <a:p>
            <a:pPr indent="0" marL="0">
              <a:buNone/>
            </a:pPr>
            <a:r>
              <a:rPr lang="en-US" sz="1500" b="1" dirty="0">
                <a:solidFill>
                  <a:srgbClr val="13233A"/>
                </a:solidFill>
              </a:rPr>
              <a:t>Operating model</a:t>
            </a:r>
            <a:endParaRPr lang="en-US" sz="1500" dirty="0"/>
          </a:p>
        </p:txBody>
      </p:sp>
      <p:sp>
        <p:nvSpPr>
          <p:cNvPr id="7" name="Text 5"/>
          <p:cNvSpPr/>
          <p:nvPr/>
        </p:nvSpPr>
        <p:spPr>
          <a:xfrm>
            <a:off x="896112" y="2962656"/>
            <a:ext cx="1591056" cy="1005840"/>
          </a:xfrm>
          <a:prstGeom prst="rect">
            <a:avLst/>
          </a:prstGeom>
          <a:noFill/>
          <a:ln/>
        </p:spPr>
        <p:txBody>
          <a:bodyPr wrap="square" lIns="0" tIns="0" rIns="0" bIns="0" rtlCol="0" anchor="ctr">
            <a:normAutofit/>
          </a:bodyPr>
          <a:lstStyle/>
          <a:p>
            <a:pPr indent="0" marL="0">
              <a:buNone/>
            </a:pPr>
            <a:r>
              <a:rPr lang="en-US" sz="920" dirty="0">
                <a:solidFill>
                  <a:srgbClr val="475569"/>
                </a:solidFill>
              </a:rPr>
              <a:t>How members, providers, clinical teams, claims, finance, and data functions connect.</a:t>
            </a:r>
            <a:endParaRPr lang="en-US" sz="920" dirty="0"/>
          </a:p>
        </p:txBody>
      </p:sp>
      <p:sp>
        <p:nvSpPr>
          <p:cNvPr id="8" name="Shape 6"/>
          <p:cNvSpPr/>
          <p:nvPr/>
        </p:nvSpPr>
        <p:spPr>
          <a:xfrm>
            <a:off x="2734056" y="3154680"/>
            <a:ext cx="283464" cy="0"/>
          </a:xfrm>
          <a:prstGeom prst="line">
            <a:avLst/>
          </a:prstGeom>
          <a:noFill/>
          <a:ln w="20320">
            <a:solidFill>
              <a:srgbClr val="9AA8BA"/>
            </a:solidFill>
            <a:prstDash val="solid"/>
            <a:headEnd type="none"/>
            <a:tailEnd type="triangle"/>
          </a:ln>
        </p:spPr>
      </p:sp>
      <p:sp>
        <p:nvSpPr>
          <p:cNvPr id="9" name="Shape 7"/>
          <p:cNvSpPr/>
          <p:nvPr/>
        </p:nvSpPr>
        <p:spPr>
          <a:xfrm>
            <a:off x="2971800" y="1508760"/>
            <a:ext cx="1965960" cy="3429000"/>
          </a:xfrm>
          <a:prstGeom prst="roundRect">
            <a:avLst>
              <a:gd name="adj" fmla="val 4651"/>
            </a:avLst>
          </a:prstGeom>
          <a:solidFill>
            <a:srgbClr val="EAF7F0"/>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10" name="Text 8"/>
          <p:cNvSpPr/>
          <p:nvPr/>
        </p:nvSpPr>
        <p:spPr>
          <a:xfrm>
            <a:off x="3099816" y="1719072"/>
            <a:ext cx="411480" cy="320040"/>
          </a:xfrm>
          <a:prstGeom prst="rect">
            <a:avLst/>
          </a:prstGeom>
          <a:noFill/>
          <a:ln/>
        </p:spPr>
        <p:txBody>
          <a:bodyPr wrap="square" lIns="0" tIns="0" rIns="0" bIns="0" rtlCol="0" anchor="ctr"/>
          <a:lstStyle/>
          <a:p>
            <a:pPr indent="0" marL="0">
              <a:buNone/>
            </a:pPr>
            <a:r>
              <a:rPr lang="en-US" sz="1700" b="1" dirty="0">
                <a:solidFill>
                  <a:srgbClr val="16A34A"/>
                </a:solidFill>
              </a:rPr>
              <a:t>2</a:t>
            </a:r>
            <a:endParaRPr lang="en-US" sz="1700" dirty="0"/>
          </a:p>
        </p:txBody>
      </p:sp>
      <p:sp>
        <p:nvSpPr>
          <p:cNvPr id="11" name="Text 9"/>
          <p:cNvSpPr/>
          <p:nvPr/>
        </p:nvSpPr>
        <p:spPr>
          <a:xfrm>
            <a:off x="3118104" y="2212848"/>
            <a:ext cx="1572768" cy="411480"/>
          </a:xfrm>
          <a:prstGeom prst="rect">
            <a:avLst/>
          </a:prstGeom>
          <a:noFill/>
          <a:ln/>
        </p:spPr>
        <p:txBody>
          <a:bodyPr wrap="square" lIns="0" tIns="0" rIns="0" bIns="0" rtlCol="0" anchor="ctr">
            <a:normAutofit/>
          </a:bodyPr>
          <a:lstStyle/>
          <a:p>
            <a:pPr indent="0" marL="0">
              <a:buNone/>
            </a:pPr>
            <a:r>
              <a:rPr lang="en-US" sz="1500" b="1" dirty="0">
                <a:solidFill>
                  <a:srgbClr val="13233A"/>
                </a:solidFill>
              </a:rPr>
              <a:t>Portfolio map</a:t>
            </a:r>
            <a:endParaRPr lang="en-US" sz="1500" dirty="0"/>
          </a:p>
        </p:txBody>
      </p:sp>
      <p:sp>
        <p:nvSpPr>
          <p:cNvPr id="12" name="Text 10"/>
          <p:cNvSpPr/>
          <p:nvPr/>
        </p:nvSpPr>
        <p:spPr>
          <a:xfrm>
            <a:off x="3136392" y="2962656"/>
            <a:ext cx="1591056" cy="1005840"/>
          </a:xfrm>
          <a:prstGeom prst="rect">
            <a:avLst/>
          </a:prstGeom>
          <a:noFill/>
          <a:ln/>
        </p:spPr>
        <p:txBody>
          <a:bodyPr wrap="square" lIns="0" tIns="0" rIns="0" bIns="0" rtlCol="0" anchor="ctr">
            <a:normAutofit/>
          </a:bodyPr>
          <a:lstStyle/>
          <a:p>
            <a:pPr indent="0" marL="0">
              <a:buNone/>
            </a:pPr>
            <a:r>
              <a:rPr lang="en-US" sz="920" dirty="0">
                <a:solidFill>
                  <a:srgbClr val="475569"/>
                </a:solidFill>
              </a:rPr>
              <a:t>The 11 capabilities that run a payer enterprise and where product ownership sits.</a:t>
            </a:r>
            <a:endParaRPr lang="en-US" sz="920" dirty="0"/>
          </a:p>
        </p:txBody>
      </p:sp>
      <p:sp>
        <p:nvSpPr>
          <p:cNvPr id="13" name="Shape 11"/>
          <p:cNvSpPr/>
          <p:nvPr/>
        </p:nvSpPr>
        <p:spPr>
          <a:xfrm>
            <a:off x="4974336" y="3154680"/>
            <a:ext cx="283464" cy="0"/>
          </a:xfrm>
          <a:prstGeom prst="line">
            <a:avLst/>
          </a:prstGeom>
          <a:noFill/>
          <a:ln w="20320">
            <a:solidFill>
              <a:srgbClr val="9AA8BA"/>
            </a:solidFill>
            <a:prstDash val="solid"/>
            <a:headEnd type="none"/>
            <a:tailEnd type="triangle"/>
          </a:ln>
        </p:spPr>
      </p:sp>
      <p:sp>
        <p:nvSpPr>
          <p:cNvPr id="14" name="Shape 12"/>
          <p:cNvSpPr/>
          <p:nvPr/>
        </p:nvSpPr>
        <p:spPr>
          <a:xfrm>
            <a:off x="5212080" y="1508760"/>
            <a:ext cx="1965960" cy="3429000"/>
          </a:xfrm>
          <a:prstGeom prst="roundRect">
            <a:avLst>
              <a:gd name="adj" fmla="val 4651"/>
            </a:avLst>
          </a:prstGeom>
          <a:solidFill>
            <a:srgbClr val="FEF4E6"/>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15" name="Text 13"/>
          <p:cNvSpPr/>
          <p:nvPr/>
        </p:nvSpPr>
        <p:spPr>
          <a:xfrm>
            <a:off x="5340096" y="1719072"/>
            <a:ext cx="411480" cy="320040"/>
          </a:xfrm>
          <a:prstGeom prst="rect">
            <a:avLst/>
          </a:prstGeom>
          <a:noFill/>
          <a:ln/>
        </p:spPr>
        <p:txBody>
          <a:bodyPr wrap="square" lIns="0" tIns="0" rIns="0" bIns="0" rtlCol="0" anchor="ctr"/>
          <a:lstStyle/>
          <a:p>
            <a:pPr indent="0" marL="0">
              <a:buNone/>
            </a:pPr>
            <a:r>
              <a:rPr lang="en-US" sz="1700" b="1" dirty="0">
                <a:solidFill>
                  <a:srgbClr val="D97706"/>
                </a:solidFill>
              </a:rPr>
              <a:t>3</a:t>
            </a:r>
            <a:endParaRPr lang="en-US" sz="1700" dirty="0"/>
          </a:p>
        </p:txBody>
      </p:sp>
      <p:sp>
        <p:nvSpPr>
          <p:cNvPr id="16" name="Text 14"/>
          <p:cNvSpPr/>
          <p:nvPr/>
        </p:nvSpPr>
        <p:spPr>
          <a:xfrm>
            <a:off x="5358384" y="2212848"/>
            <a:ext cx="1572768" cy="411480"/>
          </a:xfrm>
          <a:prstGeom prst="rect">
            <a:avLst/>
          </a:prstGeom>
          <a:noFill/>
          <a:ln/>
        </p:spPr>
        <p:txBody>
          <a:bodyPr wrap="square" lIns="0" tIns="0" rIns="0" bIns="0" rtlCol="0" anchor="ctr">
            <a:normAutofit/>
          </a:bodyPr>
          <a:lstStyle/>
          <a:p>
            <a:pPr indent="0" marL="0">
              <a:buNone/>
            </a:pPr>
            <a:r>
              <a:rPr lang="en-US" sz="1500" b="1" dirty="0">
                <a:solidFill>
                  <a:srgbClr val="13233A"/>
                </a:solidFill>
              </a:rPr>
              <a:t>Concerns &amp; KPIs</a:t>
            </a:r>
            <a:endParaRPr lang="en-US" sz="1500" dirty="0"/>
          </a:p>
        </p:txBody>
      </p:sp>
      <p:sp>
        <p:nvSpPr>
          <p:cNvPr id="17" name="Text 15"/>
          <p:cNvSpPr/>
          <p:nvPr/>
        </p:nvSpPr>
        <p:spPr>
          <a:xfrm>
            <a:off x="5376672" y="2962656"/>
            <a:ext cx="1591056" cy="1005840"/>
          </a:xfrm>
          <a:prstGeom prst="rect">
            <a:avLst/>
          </a:prstGeom>
          <a:noFill/>
          <a:ln/>
        </p:spPr>
        <p:txBody>
          <a:bodyPr wrap="square" lIns="0" tIns="0" rIns="0" bIns="0" rtlCol="0" anchor="ctr">
            <a:normAutofit/>
          </a:bodyPr>
          <a:lstStyle/>
          <a:p>
            <a:pPr indent="0" marL="0">
              <a:buNone/>
            </a:pPr>
            <a:r>
              <a:rPr lang="en-US" sz="920" dirty="0">
                <a:solidFill>
                  <a:srgbClr val="475569"/>
                </a:solidFill>
              </a:rPr>
              <a:t>What each product must manage and how success is measured.</a:t>
            </a:r>
            <a:endParaRPr lang="en-US" sz="920" dirty="0"/>
          </a:p>
        </p:txBody>
      </p:sp>
      <p:sp>
        <p:nvSpPr>
          <p:cNvPr id="18" name="Shape 16"/>
          <p:cNvSpPr/>
          <p:nvPr/>
        </p:nvSpPr>
        <p:spPr>
          <a:xfrm>
            <a:off x="7214616" y="3154680"/>
            <a:ext cx="283464" cy="0"/>
          </a:xfrm>
          <a:prstGeom prst="line">
            <a:avLst/>
          </a:prstGeom>
          <a:noFill/>
          <a:ln w="20320">
            <a:solidFill>
              <a:srgbClr val="9AA8BA"/>
            </a:solidFill>
            <a:prstDash val="solid"/>
            <a:headEnd type="none"/>
            <a:tailEnd type="triangle"/>
          </a:ln>
        </p:spPr>
      </p:sp>
      <p:sp>
        <p:nvSpPr>
          <p:cNvPr id="19" name="Shape 17"/>
          <p:cNvSpPr/>
          <p:nvPr/>
        </p:nvSpPr>
        <p:spPr>
          <a:xfrm>
            <a:off x="7452360" y="1508760"/>
            <a:ext cx="1965960" cy="3429000"/>
          </a:xfrm>
          <a:prstGeom prst="roundRect">
            <a:avLst>
              <a:gd name="adj" fmla="val 4651"/>
            </a:avLst>
          </a:prstGeom>
          <a:solidFill>
            <a:srgbClr val="F3EDFF"/>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20" name="Text 18"/>
          <p:cNvSpPr/>
          <p:nvPr/>
        </p:nvSpPr>
        <p:spPr>
          <a:xfrm>
            <a:off x="7580376" y="1719072"/>
            <a:ext cx="411480" cy="320040"/>
          </a:xfrm>
          <a:prstGeom prst="rect">
            <a:avLst/>
          </a:prstGeom>
          <a:noFill/>
          <a:ln/>
        </p:spPr>
        <p:txBody>
          <a:bodyPr wrap="square" lIns="0" tIns="0" rIns="0" bIns="0" rtlCol="0" anchor="ctr"/>
          <a:lstStyle/>
          <a:p>
            <a:pPr indent="0" marL="0">
              <a:buNone/>
            </a:pPr>
            <a:r>
              <a:rPr lang="en-US" sz="1700" b="1" dirty="0">
                <a:solidFill>
                  <a:srgbClr val="7C3AED"/>
                </a:solidFill>
              </a:rPr>
              <a:t>4</a:t>
            </a:r>
            <a:endParaRPr lang="en-US" sz="1700" dirty="0"/>
          </a:p>
        </p:txBody>
      </p:sp>
      <p:sp>
        <p:nvSpPr>
          <p:cNvPr id="21" name="Text 19"/>
          <p:cNvSpPr/>
          <p:nvPr/>
        </p:nvSpPr>
        <p:spPr>
          <a:xfrm>
            <a:off x="7598664" y="2212848"/>
            <a:ext cx="1572768" cy="411480"/>
          </a:xfrm>
          <a:prstGeom prst="rect">
            <a:avLst/>
          </a:prstGeom>
          <a:noFill/>
          <a:ln/>
        </p:spPr>
        <p:txBody>
          <a:bodyPr wrap="square" lIns="0" tIns="0" rIns="0" bIns="0" rtlCol="0" anchor="ctr">
            <a:normAutofit/>
          </a:bodyPr>
          <a:lstStyle/>
          <a:p>
            <a:pPr indent="0" marL="0">
              <a:buNone/>
            </a:pPr>
            <a:r>
              <a:rPr lang="en-US" sz="1500" b="1" dirty="0">
                <a:solidFill>
                  <a:srgbClr val="13233A"/>
                </a:solidFill>
              </a:rPr>
              <a:t>AI roadmap</a:t>
            </a:r>
            <a:endParaRPr lang="en-US" sz="1500" dirty="0"/>
          </a:p>
        </p:txBody>
      </p:sp>
      <p:sp>
        <p:nvSpPr>
          <p:cNvPr id="22" name="Text 20"/>
          <p:cNvSpPr/>
          <p:nvPr/>
        </p:nvSpPr>
        <p:spPr>
          <a:xfrm>
            <a:off x="7616952" y="2962656"/>
            <a:ext cx="1591056" cy="1005840"/>
          </a:xfrm>
          <a:prstGeom prst="rect">
            <a:avLst/>
          </a:prstGeom>
          <a:noFill/>
          <a:ln/>
        </p:spPr>
        <p:txBody>
          <a:bodyPr wrap="square" lIns="0" tIns="0" rIns="0" bIns="0" rtlCol="0" anchor="ctr">
            <a:normAutofit/>
          </a:bodyPr>
          <a:lstStyle/>
          <a:p>
            <a:pPr indent="0" marL="0">
              <a:buNone/>
            </a:pPr>
            <a:r>
              <a:rPr lang="en-US" sz="920" dirty="0">
                <a:solidFill>
                  <a:srgbClr val="475569"/>
                </a:solidFill>
              </a:rPr>
              <a:t>Where AI creates value without breaking compliance or trust.</a:t>
            </a:r>
            <a:endParaRPr lang="en-US" sz="920" dirty="0"/>
          </a:p>
        </p:txBody>
      </p:sp>
      <p:sp>
        <p:nvSpPr>
          <p:cNvPr id="23" name="Shape 21"/>
          <p:cNvSpPr/>
          <p:nvPr/>
        </p:nvSpPr>
        <p:spPr>
          <a:xfrm>
            <a:off x="9454896" y="3154680"/>
            <a:ext cx="283464" cy="0"/>
          </a:xfrm>
          <a:prstGeom prst="line">
            <a:avLst/>
          </a:prstGeom>
          <a:noFill/>
          <a:ln w="20320">
            <a:solidFill>
              <a:srgbClr val="9AA8BA"/>
            </a:solidFill>
            <a:prstDash val="solid"/>
            <a:headEnd type="none"/>
            <a:tailEnd type="triangle"/>
          </a:ln>
        </p:spPr>
      </p:sp>
      <p:sp>
        <p:nvSpPr>
          <p:cNvPr id="24" name="Shape 22"/>
          <p:cNvSpPr/>
          <p:nvPr/>
        </p:nvSpPr>
        <p:spPr>
          <a:xfrm>
            <a:off x="9692640" y="1508760"/>
            <a:ext cx="1965960" cy="3429000"/>
          </a:xfrm>
          <a:prstGeom prst="roundRect">
            <a:avLst>
              <a:gd name="adj" fmla="val 4651"/>
            </a:avLst>
          </a:prstGeom>
          <a:solidFill>
            <a:srgbClr val="E9F7F5"/>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25" name="Text 23"/>
          <p:cNvSpPr/>
          <p:nvPr/>
        </p:nvSpPr>
        <p:spPr>
          <a:xfrm>
            <a:off x="9820656" y="1719072"/>
            <a:ext cx="411480" cy="320040"/>
          </a:xfrm>
          <a:prstGeom prst="rect">
            <a:avLst/>
          </a:prstGeom>
          <a:noFill/>
          <a:ln/>
        </p:spPr>
        <p:txBody>
          <a:bodyPr wrap="square" lIns="0" tIns="0" rIns="0" bIns="0" rtlCol="0" anchor="ctr"/>
          <a:lstStyle/>
          <a:p>
            <a:pPr indent="0" marL="0">
              <a:buNone/>
            </a:pPr>
            <a:r>
              <a:rPr lang="en-US" sz="1700" b="1" dirty="0">
                <a:solidFill>
                  <a:srgbClr val="0F766E"/>
                </a:solidFill>
              </a:rPr>
              <a:t>5</a:t>
            </a:r>
            <a:endParaRPr lang="en-US" sz="1700" dirty="0"/>
          </a:p>
        </p:txBody>
      </p:sp>
      <p:sp>
        <p:nvSpPr>
          <p:cNvPr id="26" name="Text 24"/>
          <p:cNvSpPr/>
          <p:nvPr/>
        </p:nvSpPr>
        <p:spPr>
          <a:xfrm>
            <a:off x="9838944" y="2212848"/>
            <a:ext cx="1572768" cy="411480"/>
          </a:xfrm>
          <a:prstGeom prst="rect">
            <a:avLst/>
          </a:prstGeom>
          <a:noFill/>
          <a:ln/>
        </p:spPr>
        <p:txBody>
          <a:bodyPr wrap="square" lIns="0" tIns="0" rIns="0" bIns="0" rtlCol="0" anchor="ctr">
            <a:normAutofit/>
          </a:bodyPr>
          <a:lstStyle/>
          <a:p>
            <a:pPr indent="0" marL="0">
              <a:buNone/>
            </a:pPr>
            <a:r>
              <a:rPr lang="en-US" sz="1500" b="1" dirty="0">
                <a:solidFill>
                  <a:srgbClr val="13233A"/>
                </a:solidFill>
              </a:rPr>
              <a:t>Execution model</a:t>
            </a:r>
            <a:endParaRPr lang="en-US" sz="1500" dirty="0"/>
          </a:p>
        </p:txBody>
      </p:sp>
      <p:sp>
        <p:nvSpPr>
          <p:cNvPr id="27" name="Text 25"/>
          <p:cNvSpPr/>
          <p:nvPr/>
        </p:nvSpPr>
        <p:spPr>
          <a:xfrm>
            <a:off x="9857232" y="2962656"/>
            <a:ext cx="1591056" cy="1005840"/>
          </a:xfrm>
          <a:prstGeom prst="rect">
            <a:avLst/>
          </a:prstGeom>
          <a:noFill/>
          <a:ln/>
        </p:spPr>
        <p:txBody>
          <a:bodyPr wrap="square" lIns="0" tIns="0" rIns="0" bIns="0" rtlCol="0" anchor="ctr">
            <a:normAutofit/>
          </a:bodyPr>
          <a:lstStyle/>
          <a:p>
            <a:pPr indent="0" marL="0">
              <a:buNone/>
            </a:pPr>
            <a:r>
              <a:rPr lang="en-US" sz="920" dirty="0">
                <a:solidFill>
                  <a:srgbClr val="475569"/>
                </a:solidFill>
              </a:rPr>
              <a:t>How to govern the roadmap, prioritize investments, and show business outcomes.</a:t>
            </a:r>
            <a:endParaRPr lang="en-US" sz="920" dirty="0"/>
          </a:p>
        </p:txBody>
      </p:sp>
      <p:sp>
        <p:nvSpPr>
          <p:cNvPr id="28" name="Shape 26"/>
          <p:cNvSpPr/>
          <p:nvPr/>
        </p:nvSpPr>
        <p:spPr>
          <a:xfrm>
            <a:off x="786384" y="5650992"/>
            <a:ext cx="10469880" cy="0"/>
          </a:xfrm>
          <a:prstGeom prst="line">
            <a:avLst/>
          </a:prstGeom>
          <a:noFill/>
          <a:ln w="13970">
            <a:solidFill>
              <a:srgbClr val="D6DEE9"/>
            </a:solidFill>
            <a:prstDash val="solid"/>
          </a:ln>
        </p:spPr>
      </p:sp>
      <p:sp>
        <p:nvSpPr>
          <p:cNvPr id="29" name="Text 27"/>
          <p:cNvSpPr/>
          <p:nvPr/>
        </p:nvSpPr>
        <p:spPr>
          <a:xfrm>
            <a:off x="1508760" y="5907024"/>
            <a:ext cx="9144000" cy="310896"/>
          </a:xfrm>
          <a:prstGeom prst="rect">
            <a:avLst/>
          </a:prstGeom>
          <a:noFill/>
          <a:ln/>
        </p:spPr>
        <p:txBody>
          <a:bodyPr wrap="square" lIns="0" tIns="0" rIns="0" bIns="0" rtlCol="0" anchor="ctr"/>
          <a:lstStyle/>
          <a:p>
            <a:pPr algn="ctr" indent="0" marL="0">
              <a:buNone/>
            </a:pPr>
            <a:r>
              <a:rPr lang="en-US" sz="1500" b="1" dirty="0">
                <a:solidFill>
                  <a:srgbClr val="13233A"/>
                </a:solidFill>
              </a:rPr>
              <a:t>Memorize this anchor: Problem → Portfolio → Roadmap → Outcomes</a:t>
            </a:r>
            <a:endParaRPr lang="en-US" sz="150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Healthcare payer platform operating model</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The product portfolio is one connected business chain — not 11 separate applications.</a:t>
            </a:r>
            <a:endParaRPr lang="en-US" sz="950" dirty="0"/>
          </a:p>
        </p:txBody>
      </p:sp>
      <p:sp>
        <p:nvSpPr>
          <p:cNvPr id="4" name="Shape 2"/>
          <p:cNvSpPr/>
          <p:nvPr/>
        </p:nvSpPr>
        <p:spPr>
          <a:xfrm>
            <a:off x="594360" y="1508760"/>
            <a:ext cx="1719072" cy="1207008"/>
          </a:xfrm>
          <a:prstGeom prst="roundRect">
            <a:avLst>
              <a:gd name="adj" fmla="val 7576"/>
            </a:avLst>
          </a:prstGeom>
          <a:solidFill>
            <a:srgbClr val="EAF2FF"/>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713232" y="1691640"/>
            <a:ext cx="1481328" cy="256032"/>
          </a:xfrm>
          <a:prstGeom prst="rect">
            <a:avLst/>
          </a:prstGeom>
          <a:noFill/>
          <a:ln/>
        </p:spPr>
        <p:txBody>
          <a:bodyPr wrap="square" lIns="0" tIns="0" rIns="0" bIns="0" rtlCol="0" anchor="ctr">
            <a:normAutofit/>
          </a:bodyPr>
          <a:lstStyle/>
          <a:p>
            <a:pPr indent="0" marL="0">
              <a:buNone/>
            </a:pPr>
            <a:r>
              <a:rPr lang="en-US" sz="1250" b="1" dirty="0">
                <a:solidFill>
                  <a:srgbClr val="13233A"/>
                </a:solidFill>
              </a:rPr>
              <a:t>Member &amp; Employer</a:t>
            </a:r>
            <a:endParaRPr lang="en-US" sz="1250" dirty="0"/>
          </a:p>
        </p:txBody>
      </p:sp>
      <p:sp>
        <p:nvSpPr>
          <p:cNvPr id="6" name="Text 4"/>
          <p:cNvSpPr/>
          <p:nvPr/>
        </p:nvSpPr>
        <p:spPr>
          <a:xfrm>
            <a:off x="713232" y="2075688"/>
            <a:ext cx="1481328" cy="347472"/>
          </a:xfrm>
          <a:prstGeom prst="rect">
            <a:avLst/>
          </a:prstGeom>
          <a:noFill/>
          <a:ln/>
        </p:spPr>
        <p:txBody>
          <a:bodyPr wrap="square" lIns="0" tIns="0" rIns="0" bIns="0" rtlCol="0" anchor="ctr">
            <a:normAutofit/>
          </a:bodyPr>
          <a:lstStyle/>
          <a:p>
            <a:pPr indent="0" marL="0">
              <a:buNone/>
            </a:pPr>
            <a:r>
              <a:rPr lang="en-US" sz="780" dirty="0">
                <a:solidFill>
                  <a:srgbClr val="475569"/>
                </a:solidFill>
              </a:rPr>
              <a:t>Enrollment, eligibility, benefits</a:t>
            </a:r>
            <a:endParaRPr lang="en-US" sz="780" dirty="0"/>
          </a:p>
        </p:txBody>
      </p:sp>
      <p:sp>
        <p:nvSpPr>
          <p:cNvPr id="7" name="Shape 5"/>
          <p:cNvSpPr/>
          <p:nvPr/>
        </p:nvSpPr>
        <p:spPr>
          <a:xfrm>
            <a:off x="2368296" y="2103120"/>
            <a:ext cx="448056" cy="0"/>
          </a:xfrm>
          <a:prstGeom prst="line">
            <a:avLst/>
          </a:prstGeom>
          <a:noFill/>
          <a:ln w="20320">
            <a:solidFill>
              <a:srgbClr val="9AA8BA"/>
            </a:solidFill>
            <a:prstDash val="solid"/>
            <a:headEnd type="none"/>
            <a:tailEnd type="triangle"/>
          </a:ln>
        </p:spPr>
      </p:sp>
      <p:sp>
        <p:nvSpPr>
          <p:cNvPr id="8" name="Shape 6"/>
          <p:cNvSpPr/>
          <p:nvPr/>
        </p:nvSpPr>
        <p:spPr>
          <a:xfrm>
            <a:off x="2907792" y="1508760"/>
            <a:ext cx="1719072" cy="1207008"/>
          </a:xfrm>
          <a:prstGeom prst="roundRect">
            <a:avLst>
              <a:gd name="adj" fmla="val 7576"/>
            </a:avLst>
          </a:prstGeom>
          <a:solidFill>
            <a:srgbClr val="E9F7F5"/>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9" name="Text 7"/>
          <p:cNvSpPr/>
          <p:nvPr/>
        </p:nvSpPr>
        <p:spPr>
          <a:xfrm>
            <a:off x="3026664" y="1691640"/>
            <a:ext cx="1481328" cy="256032"/>
          </a:xfrm>
          <a:prstGeom prst="rect">
            <a:avLst/>
          </a:prstGeom>
          <a:noFill/>
          <a:ln/>
        </p:spPr>
        <p:txBody>
          <a:bodyPr wrap="square" lIns="0" tIns="0" rIns="0" bIns="0" rtlCol="0" anchor="ctr">
            <a:normAutofit/>
          </a:bodyPr>
          <a:lstStyle/>
          <a:p>
            <a:pPr indent="0" marL="0">
              <a:buNone/>
            </a:pPr>
            <a:r>
              <a:rPr lang="en-US" sz="1250" b="1" dirty="0">
                <a:solidFill>
                  <a:srgbClr val="13233A"/>
                </a:solidFill>
              </a:rPr>
              <a:t>Provider Network</a:t>
            </a:r>
            <a:endParaRPr lang="en-US" sz="1250" dirty="0"/>
          </a:p>
        </p:txBody>
      </p:sp>
      <p:sp>
        <p:nvSpPr>
          <p:cNvPr id="10" name="Text 8"/>
          <p:cNvSpPr/>
          <p:nvPr/>
        </p:nvSpPr>
        <p:spPr>
          <a:xfrm>
            <a:off x="3026664" y="2075688"/>
            <a:ext cx="1481328" cy="347472"/>
          </a:xfrm>
          <a:prstGeom prst="rect">
            <a:avLst/>
          </a:prstGeom>
          <a:noFill/>
          <a:ln/>
        </p:spPr>
        <p:txBody>
          <a:bodyPr wrap="square" lIns="0" tIns="0" rIns="0" bIns="0" rtlCol="0" anchor="ctr">
            <a:normAutofit/>
          </a:bodyPr>
          <a:lstStyle/>
          <a:p>
            <a:pPr indent="0" marL="0">
              <a:buNone/>
            </a:pPr>
            <a:r>
              <a:rPr lang="en-US" sz="780" dirty="0">
                <a:solidFill>
                  <a:srgbClr val="475569"/>
                </a:solidFill>
              </a:rPr>
              <a:t>Credentialing, contracts, directory</a:t>
            </a:r>
            <a:endParaRPr lang="en-US" sz="780" dirty="0"/>
          </a:p>
        </p:txBody>
      </p:sp>
      <p:sp>
        <p:nvSpPr>
          <p:cNvPr id="11" name="Shape 9"/>
          <p:cNvSpPr/>
          <p:nvPr/>
        </p:nvSpPr>
        <p:spPr>
          <a:xfrm>
            <a:off x="4681728" y="2103120"/>
            <a:ext cx="457200" cy="0"/>
          </a:xfrm>
          <a:prstGeom prst="line">
            <a:avLst/>
          </a:prstGeom>
          <a:noFill/>
          <a:ln w="20320">
            <a:solidFill>
              <a:srgbClr val="9AA8BA"/>
            </a:solidFill>
            <a:prstDash val="solid"/>
            <a:headEnd type="none"/>
            <a:tailEnd type="triangle"/>
          </a:ln>
        </p:spPr>
      </p:sp>
      <p:sp>
        <p:nvSpPr>
          <p:cNvPr id="12" name="Shape 10"/>
          <p:cNvSpPr/>
          <p:nvPr/>
        </p:nvSpPr>
        <p:spPr>
          <a:xfrm>
            <a:off x="5230368" y="1508760"/>
            <a:ext cx="1719072" cy="1207008"/>
          </a:xfrm>
          <a:prstGeom prst="roundRect">
            <a:avLst>
              <a:gd name="adj" fmla="val 7576"/>
            </a:avLst>
          </a:prstGeom>
          <a:solidFill>
            <a:srgbClr val="F3EDFF"/>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13" name="Text 11"/>
          <p:cNvSpPr/>
          <p:nvPr/>
        </p:nvSpPr>
        <p:spPr>
          <a:xfrm>
            <a:off x="5349240" y="1691640"/>
            <a:ext cx="1481328" cy="256032"/>
          </a:xfrm>
          <a:prstGeom prst="rect">
            <a:avLst/>
          </a:prstGeom>
          <a:noFill/>
          <a:ln/>
        </p:spPr>
        <p:txBody>
          <a:bodyPr wrap="square" lIns="0" tIns="0" rIns="0" bIns="0" rtlCol="0" anchor="ctr">
            <a:normAutofit/>
          </a:bodyPr>
          <a:lstStyle/>
          <a:p>
            <a:pPr indent="0" marL="0">
              <a:buNone/>
            </a:pPr>
            <a:r>
              <a:rPr lang="en-US" sz="1250" b="1" dirty="0">
                <a:solidFill>
                  <a:srgbClr val="13233A"/>
                </a:solidFill>
              </a:rPr>
              <a:t>Clinical Operations</a:t>
            </a:r>
            <a:endParaRPr lang="en-US" sz="1250" dirty="0"/>
          </a:p>
        </p:txBody>
      </p:sp>
      <p:sp>
        <p:nvSpPr>
          <p:cNvPr id="14" name="Text 12"/>
          <p:cNvSpPr/>
          <p:nvPr/>
        </p:nvSpPr>
        <p:spPr>
          <a:xfrm>
            <a:off x="5349240" y="2075688"/>
            <a:ext cx="1481328" cy="347472"/>
          </a:xfrm>
          <a:prstGeom prst="rect">
            <a:avLst/>
          </a:prstGeom>
          <a:noFill/>
          <a:ln/>
        </p:spPr>
        <p:txBody>
          <a:bodyPr wrap="square" lIns="0" tIns="0" rIns="0" bIns="0" rtlCol="0" anchor="ctr">
            <a:normAutofit/>
          </a:bodyPr>
          <a:lstStyle/>
          <a:p>
            <a:pPr indent="0" marL="0">
              <a:buNone/>
            </a:pPr>
            <a:r>
              <a:rPr lang="en-US" sz="780" dirty="0">
                <a:solidFill>
                  <a:srgbClr val="475569"/>
                </a:solidFill>
              </a:rPr>
              <a:t>UM, prior auth, care, appeals</a:t>
            </a:r>
            <a:endParaRPr lang="en-US" sz="780" dirty="0"/>
          </a:p>
        </p:txBody>
      </p:sp>
      <p:sp>
        <p:nvSpPr>
          <p:cNvPr id="15" name="Shape 13"/>
          <p:cNvSpPr/>
          <p:nvPr/>
        </p:nvSpPr>
        <p:spPr>
          <a:xfrm>
            <a:off x="7004304" y="2103120"/>
            <a:ext cx="448056" cy="0"/>
          </a:xfrm>
          <a:prstGeom prst="line">
            <a:avLst/>
          </a:prstGeom>
          <a:noFill/>
          <a:ln w="20320">
            <a:solidFill>
              <a:srgbClr val="9AA8BA"/>
            </a:solidFill>
            <a:prstDash val="solid"/>
            <a:headEnd type="none"/>
            <a:tailEnd type="triangle"/>
          </a:ln>
        </p:spPr>
      </p:sp>
      <p:sp>
        <p:nvSpPr>
          <p:cNvPr id="16" name="Shape 14"/>
          <p:cNvSpPr/>
          <p:nvPr/>
        </p:nvSpPr>
        <p:spPr>
          <a:xfrm>
            <a:off x="7543800" y="1508760"/>
            <a:ext cx="1719072" cy="1207008"/>
          </a:xfrm>
          <a:prstGeom prst="roundRect">
            <a:avLst>
              <a:gd name="adj" fmla="val 7576"/>
            </a:avLst>
          </a:prstGeom>
          <a:solidFill>
            <a:srgbClr val="FEF4E6"/>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17" name="Text 15"/>
          <p:cNvSpPr/>
          <p:nvPr/>
        </p:nvSpPr>
        <p:spPr>
          <a:xfrm>
            <a:off x="7662672" y="1691640"/>
            <a:ext cx="1481328" cy="256032"/>
          </a:xfrm>
          <a:prstGeom prst="rect">
            <a:avLst/>
          </a:prstGeom>
          <a:noFill/>
          <a:ln/>
        </p:spPr>
        <p:txBody>
          <a:bodyPr wrap="square" lIns="0" tIns="0" rIns="0" bIns="0" rtlCol="0" anchor="ctr">
            <a:normAutofit/>
          </a:bodyPr>
          <a:lstStyle/>
          <a:p>
            <a:pPr indent="0" marL="0">
              <a:buNone/>
            </a:pPr>
            <a:r>
              <a:rPr lang="en-US" sz="1250" b="1" dirty="0">
                <a:solidFill>
                  <a:srgbClr val="13233A"/>
                </a:solidFill>
              </a:rPr>
              <a:t>Claims &amp; Finance</a:t>
            </a:r>
            <a:endParaRPr lang="en-US" sz="1250" dirty="0"/>
          </a:p>
        </p:txBody>
      </p:sp>
      <p:sp>
        <p:nvSpPr>
          <p:cNvPr id="18" name="Text 16"/>
          <p:cNvSpPr/>
          <p:nvPr/>
        </p:nvSpPr>
        <p:spPr>
          <a:xfrm>
            <a:off x="7662672" y="2075688"/>
            <a:ext cx="1481328" cy="347472"/>
          </a:xfrm>
          <a:prstGeom prst="rect">
            <a:avLst/>
          </a:prstGeom>
          <a:noFill/>
          <a:ln/>
        </p:spPr>
        <p:txBody>
          <a:bodyPr wrap="square" lIns="0" tIns="0" rIns="0" bIns="0" rtlCol="0" anchor="ctr">
            <a:normAutofit/>
          </a:bodyPr>
          <a:lstStyle/>
          <a:p>
            <a:pPr indent="0" marL="0">
              <a:buNone/>
            </a:pPr>
            <a:r>
              <a:rPr lang="en-US" sz="780" dirty="0">
                <a:solidFill>
                  <a:srgbClr val="475569"/>
                </a:solidFill>
              </a:rPr>
              <a:t>Adjudication, payment, integrity</a:t>
            </a:r>
            <a:endParaRPr lang="en-US" sz="780" dirty="0"/>
          </a:p>
        </p:txBody>
      </p:sp>
      <p:sp>
        <p:nvSpPr>
          <p:cNvPr id="19" name="Shape 17"/>
          <p:cNvSpPr/>
          <p:nvPr/>
        </p:nvSpPr>
        <p:spPr>
          <a:xfrm>
            <a:off x="9317736" y="2103120"/>
            <a:ext cx="448056" cy="0"/>
          </a:xfrm>
          <a:prstGeom prst="line">
            <a:avLst/>
          </a:prstGeom>
          <a:noFill/>
          <a:ln w="20320">
            <a:solidFill>
              <a:srgbClr val="9AA8BA"/>
            </a:solidFill>
            <a:prstDash val="solid"/>
            <a:headEnd type="none"/>
            <a:tailEnd type="triangle"/>
          </a:ln>
        </p:spPr>
      </p:sp>
      <p:sp>
        <p:nvSpPr>
          <p:cNvPr id="20" name="Shape 18"/>
          <p:cNvSpPr/>
          <p:nvPr/>
        </p:nvSpPr>
        <p:spPr>
          <a:xfrm>
            <a:off x="9857232" y="1508760"/>
            <a:ext cx="1719072" cy="1207008"/>
          </a:xfrm>
          <a:prstGeom prst="roundRect">
            <a:avLst>
              <a:gd name="adj" fmla="val 7576"/>
            </a:avLst>
          </a:prstGeom>
          <a:solidFill>
            <a:srgbClr val="EAF7F0"/>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21" name="Text 19"/>
          <p:cNvSpPr/>
          <p:nvPr/>
        </p:nvSpPr>
        <p:spPr>
          <a:xfrm>
            <a:off x="9976104" y="1691640"/>
            <a:ext cx="1481328" cy="256032"/>
          </a:xfrm>
          <a:prstGeom prst="rect">
            <a:avLst/>
          </a:prstGeom>
          <a:noFill/>
          <a:ln/>
        </p:spPr>
        <p:txBody>
          <a:bodyPr wrap="square" lIns="0" tIns="0" rIns="0" bIns="0" rtlCol="0" anchor="ctr">
            <a:normAutofit/>
          </a:bodyPr>
          <a:lstStyle/>
          <a:p>
            <a:pPr indent="0" marL="0">
              <a:buNone/>
            </a:pPr>
            <a:r>
              <a:rPr lang="en-US" sz="1250" b="1" dirty="0">
                <a:solidFill>
                  <a:srgbClr val="13233A"/>
                </a:solidFill>
              </a:rPr>
              <a:t>Data &amp; Compliance</a:t>
            </a:r>
            <a:endParaRPr lang="en-US" sz="1250" dirty="0"/>
          </a:p>
        </p:txBody>
      </p:sp>
      <p:sp>
        <p:nvSpPr>
          <p:cNvPr id="22" name="Text 20"/>
          <p:cNvSpPr/>
          <p:nvPr/>
        </p:nvSpPr>
        <p:spPr>
          <a:xfrm>
            <a:off x="9976104" y="2075688"/>
            <a:ext cx="1481328" cy="347472"/>
          </a:xfrm>
          <a:prstGeom prst="rect">
            <a:avLst/>
          </a:prstGeom>
          <a:noFill/>
          <a:ln/>
        </p:spPr>
        <p:txBody>
          <a:bodyPr wrap="square" lIns="0" tIns="0" rIns="0" bIns="0" rtlCol="0" anchor="ctr">
            <a:normAutofit/>
          </a:bodyPr>
          <a:lstStyle/>
          <a:p>
            <a:pPr indent="0" marL="0">
              <a:buNone/>
            </a:pPr>
            <a:r>
              <a:rPr lang="en-US" sz="780" dirty="0">
                <a:solidFill>
                  <a:srgbClr val="475569"/>
                </a:solidFill>
              </a:rPr>
              <a:t>CMS, EDW, analytics, reporting</a:t>
            </a:r>
            <a:endParaRPr lang="en-US" sz="780" dirty="0"/>
          </a:p>
        </p:txBody>
      </p:sp>
      <p:sp>
        <p:nvSpPr>
          <p:cNvPr id="23" name="Shape 21"/>
          <p:cNvSpPr/>
          <p:nvPr/>
        </p:nvSpPr>
        <p:spPr>
          <a:xfrm>
            <a:off x="960120" y="3794760"/>
            <a:ext cx="10287000" cy="1234440"/>
          </a:xfrm>
          <a:prstGeom prst="roundRect">
            <a:avLst>
              <a:gd name="adj" fmla="val 7407"/>
            </a:avLst>
          </a:prstGeom>
          <a:solidFill>
            <a:srgbClr val="FFFFFF"/>
          </a:solidFill>
          <a:ln w="11430">
            <a:solidFill>
              <a:srgbClr val="CDD8E7"/>
            </a:solidFill>
            <a:prstDash val="solid"/>
          </a:ln>
          <a:effectLst>
            <a:outerShdw sx="100000" sy="100000" kx="0" ky="0" algn="bl" rotWithShape="0" blurRad="12700" dist="50800" dir="2700000">
              <a:srgbClr val="CBD5E1">
                <a:alpha val="16000"/>
              </a:srgbClr>
            </a:outerShdw>
          </a:effectLst>
        </p:spPr>
      </p:sp>
      <p:sp>
        <p:nvSpPr>
          <p:cNvPr id="24" name="Text 22"/>
          <p:cNvSpPr/>
          <p:nvPr/>
        </p:nvSpPr>
        <p:spPr>
          <a:xfrm>
            <a:off x="1234440" y="3986784"/>
            <a:ext cx="2194560" cy="274320"/>
          </a:xfrm>
          <a:prstGeom prst="rect">
            <a:avLst/>
          </a:prstGeom>
          <a:noFill/>
          <a:ln/>
        </p:spPr>
        <p:txBody>
          <a:bodyPr wrap="square" lIns="0" tIns="0" rIns="0" bIns="0" rtlCol="0" anchor="ctr"/>
          <a:lstStyle/>
          <a:p>
            <a:pPr indent="0" marL="0">
              <a:buNone/>
            </a:pPr>
            <a:r>
              <a:rPr lang="en-US" sz="1400" b="1" dirty="0">
                <a:solidFill>
                  <a:srgbClr val="13233A"/>
                </a:solidFill>
              </a:rPr>
              <a:t>Common product spine</a:t>
            </a:r>
            <a:endParaRPr lang="en-US" sz="1400" dirty="0"/>
          </a:p>
        </p:txBody>
      </p:sp>
      <p:sp>
        <p:nvSpPr>
          <p:cNvPr id="25" name="Text 23"/>
          <p:cNvSpPr/>
          <p:nvPr/>
        </p:nvSpPr>
        <p:spPr>
          <a:xfrm>
            <a:off x="1234440" y="4443984"/>
            <a:ext cx="9326880" cy="329184"/>
          </a:xfrm>
          <a:prstGeom prst="rect">
            <a:avLst/>
          </a:prstGeom>
          <a:noFill/>
          <a:ln/>
        </p:spPr>
        <p:txBody>
          <a:bodyPr wrap="square" lIns="0" tIns="0" rIns="0" bIns="0" rtlCol="0" anchor="ctr">
            <a:normAutofit/>
          </a:bodyPr>
          <a:lstStyle/>
          <a:p>
            <a:pPr algn="ctr" indent="0" marL="0">
              <a:buNone/>
            </a:pPr>
            <a:r>
              <a:rPr lang="en-US" sz="1320" b="1" dirty="0">
                <a:solidFill>
                  <a:srgbClr val="2563EB"/>
                </a:solidFill>
              </a:rPr>
              <a:t>Member ID • Provider ID • Claim ID • Authorization ID • Case ID • Encounter ID • Payment ID • Audit Event</a:t>
            </a:r>
            <a:endParaRPr lang="en-US" sz="1320" dirty="0"/>
          </a:p>
        </p:txBody>
      </p:sp>
      <p:sp>
        <p:nvSpPr>
          <p:cNvPr id="26" name="Text 24"/>
          <p:cNvSpPr/>
          <p:nvPr/>
        </p:nvSpPr>
        <p:spPr>
          <a:xfrm>
            <a:off x="914400" y="5577840"/>
            <a:ext cx="10424160" cy="402336"/>
          </a:xfrm>
          <a:prstGeom prst="rect">
            <a:avLst/>
          </a:prstGeom>
          <a:noFill/>
          <a:ln/>
        </p:spPr>
        <p:txBody>
          <a:bodyPr wrap="square" lIns="0" tIns="0" rIns="0" bIns="0" rtlCol="0" anchor="ctr"/>
          <a:lstStyle/>
          <a:p>
            <a:pPr algn="ctr" indent="0" marL="0">
              <a:buNone/>
            </a:pPr>
            <a:r>
              <a:rPr lang="en-US" sz="1200" dirty="0">
                <a:solidFill>
                  <a:srgbClr val="475569"/>
                </a:solidFill>
              </a:rPr>
              <a:t>Product insight: the value is in the handoffs. A weak eligibility record can become a denied claim, an appeal, a CMS reporting issue, and a finance reconciliation problem.</a:t>
            </a:r>
            <a:endParaRPr lang="en-US" sz="120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Portfolio view: 11 product capabilities, concerns and KPIs</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This is the “one-page chart” to anchor the discussion with executives.</a:t>
            </a:r>
            <a:endParaRPr lang="en-US" sz="950" dirty="0"/>
          </a:p>
        </p:txBody>
      </p:sp>
      <p:sp>
        <p:nvSpPr>
          <p:cNvPr id="4" name="Shape 2"/>
          <p:cNvSpPr/>
          <p:nvPr/>
        </p:nvSpPr>
        <p:spPr>
          <a:xfrm>
            <a:off x="502920" y="1133856"/>
            <a:ext cx="2514600" cy="1536192"/>
          </a:xfrm>
          <a:prstGeom prst="roundRect">
            <a:avLst>
              <a:gd name="adj" fmla="val 5952"/>
            </a:avLst>
          </a:prstGeom>
          <a:solidFill>
            <a:srgbClr val="EAF2FF"/>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612648" y="1243584"/>
            <a:ext cx="329184" cy="201168"/>
          </a:xfrm>
          <a:prstGeom prst="rect">
            <a:avLst/>
          </a:prstGeom>
          <a:noFill/>
          <a:ln/>
        </p:spPr>
        <p:txBody>
          <a:bodyPr wrap="square" lIns="0" tIns="0" rIns="0" bIns="0" rtlCol="0" anchor="ctr"/>
          <a:lstStyle/>
          <a:p>
            <a:pPr indent="0" marL="0">
              <a:buNone/>
            </a:pPr>
            <a:r>
              <a:rPr lang="en-US" sz="800" b="1" dirty="0">
                <a:solidFill>
                  <a:srgbClr val="2563EB"/>
                </a:solidFill>
              </a:rPr>
              <a:t>01</a:t>
            </a:r>
            <a:endParaRPr lang="en-US" sz="800" dirty="0"/>
          </a:p>
        </p:txBody>
      </p:sp>
      <p:sp>
        <p:nvSpPr>
          <p:cNvPr id="6" name="Text 4"/>
          <p:cNvSpPr/>
          <p:nvPr/>
        </p:nvSpPr>
        <p:spPr>
          <a:xfrm>
            <a:off x="960120" y="1225296"/>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Member Eligibility &amp; Enrollment</a:t>
            </a:r>
            <a:endParaRPr lang="en-US" sz="1000" dirty="0"/>
          </a:p>
        </p:txBody>
      </p:sp>
      <p:sp>
        <p:nvSpPr>
          <p:cNvPr id="7" name="Text 5"/>
          <p:cNvSpPr/>
          <p:nvPr/>
        </p:nvSpPr>
        <p:spPr>
          <a:xfrm>
            <a:off x="630936" y="1645920"/>
            <a:ext cx="685800" cy="146304"/>
          </a:xfrm>
          <a:prstGeom prst="rect">
            <a:avLst/>
          </a:prstGeom>
          <a:noFill/>
          <a:ln/>
        </p:spPr>
        <p:txBody>
          <a:bodyPr wrap="square" lIns="0" tIns="0" rIns="0" bIns="0" rtlCol="0" anchor="ctr"/>
          <a:lstStyle/>
          <a:p>
            <a:pPr indent="0" marL="0">
              <a:buNone/>
            </a:pPr>
            <a:r>
              <a:rPr lang="en-US" sz="580" b="1" dirty="0">
                <a:solidFill>
                  <a:srgbClr val="2563EB"/>
                </a:solidFill>
              </a:rPr>
              <a:t>Concern</a:t>
            </a:r>
            <a:endParaRPr lang="en-US" sz="580" dirty="0"/>
          </a:p>
        </p:txBody>
      </p:sp>
      <p:sp>
        <p:nvSpPr>
          <p:cNvPr id="8" name="Text 6"/>
          <p:cNvSpPr/>
          <p:nvPr/>
        </p:nvSpPr>
        <p:spPr>
          <a:xfrm>
            <a:off x="630936" y="1792224"/>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Eligibility accuracy, retro updates, duplicates</a:t>
            </a:r>
            <a:endParaRPr lang="en-US" sz="720" dirty="0"/>
          </a:p>
        </p:txBody>
      </p:sp>
      <p:sp>
        <p:nvSpPr>
          <p:cNvPr id="9" name="Text 7"/>
          <p:cNvSpPr/>
          <p:nvPr/>
        </p:nvSpPr>
        <p:spPr>
          <a:xfrm>
            <a:off x="630936" y="2093976"/>
            <a:ext cx="411480" cy="137160"/>
          </a:xfrm>
          <a:prstGeom prst="rect">
            <a:avLst/>
          </a:prstGeom>
          <a:noFill/>
          <a:ln/>
        </p:spPr>
        <p:txBody>
          <a:bodyPr wrap="square" lIns="0" tIns="0" rIns="0" bIns="0" rtlCol="0" anchor="ctr"/>
          <a:lstStyle/>
          <a:p>
            <a:pPr indent="0" marL="0">
              <a:buNone/>
            </a:pPr>
            <a:r>
              <a:rPr lang="en-US" sz="580" b="1" dirty="0">
                <a:solidFill>
                  <a:srgbClr val="2563EB"/>
                </a:solidFill>
              </a:rPr>
              <a:t>KPIs</a:t>
            </a:r>
            <a:endParaRPr lang="en-US" sz="580" dirty="0"/>
          </a:p>
        </p:txBody>
      </p:sp>
      <p:sp>
        <p:nvSpPr>
          <p:cNvPr id="10" name="Text 8"/>
          <p:cNvSpPr/>
          <p:nvPr/>
        </p:nvSpPr>
        <p:spPr>
          <a:xfrm>
            <a:off x="630936" y="2240280"/>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834 rejects, 270 latency, eligibility defects</a:t>
            </a:r>
            <a:endParaRPr lang="en-US" sz="720" dirty="0"/>
          </a:p>
        </p:txBody>
      </p:sp>
      <p:sp>
        <p:nvSpPr>
          <p:cNvPr id="11" name="Shape 9"/>
          <p:cNvSpPr/>
          <p:nvPr/>
        </p:nvSpPr>
        <p:spPr>
          <a:xfrm>
            <a:off x="3429000" y="1133856"/>
            <a:ext cx="2514600" cy="1536192"/>
          </a:xfrm>
          <a:prstGeom prst="roundRect">
            <a:avLst>
              <a:gd name="adj" fmla="val 5952"/>
            </a:avLst>
          </a:prstGeom>
          <a:solidFill>
            <a:srgbClr val="FEF4E6"/>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12" name="Text 10"/>
          <p:cNvSpPr/>
          <p:nvPr/>
        </p:nvSpPr>
        <p:spPr>
          <a:xfrm>
            <a:off x="3538728" y="1243584"/>
            <a:ext cx="329184" cy="201168"/>
          </a:xfrm>
          <a:prstGeom prst="rect">
            <a:avLst/>
          </a:prstGeom>
          <a:noFill/>
          <a:ln/>
        </p:spPr>
        <p:txBody>
          <a:bodyPr wrap="square" lIns="0" tIns="0" rIns="0" bIns="0" rtlCol="0" anchor="ctr"/>
          <a:lstStyle/>
          <a:p>
            <a:pPr indent="0" marL="0">
              <a:buNone/>
            </a:pPr>
            <a:r>
              <a:rPr lang="en-US" sz="800" b="1" dirty="0">
                <a:solidFill>
                  <a:srgbClr val="D97706"/>
                </a:solidFill>
              </a:rPr>
              <a:t>02</a:t>
            </a:r>
            <a:endParaRPr lang="en-US" sz="800" dirty="0"/>
          </a:p>
        </p:txBody>
      </p:sp>
      <p:sp>
        <p:nvSpPr>
          <p:cNvPr id="13" name="Text 11"/>
          <p:cNvSpPr/>
          <p:nvPr/>
        </p:nvSpPr>
        <p:spPr>
          <a:xfrm>
            <a:off x="3886200" y="1225296"/>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Claims Processing &amp; Adjudication</a:t>
            </a:r>
            <a:endParaRPr lang="en-US" sz="1000" dirty="0"/>
          </a:p>
        </p:txBody>
      </p:sp>
      <p:sp>
        <p:nvSpPr>
          <p:cNvPr id="14" name="Text 12"/>
          <p:cNvSpPr/>
          <p:nvPr/>
        </p:nvSpPr>
        <p:spPr>
          <a:xfrm>
            <a:off x="3557016" y="1645920"/>
            <a:ext cx="685800" cy="146304"/>
          </a:xfrm>
          <a:prstGeom prst="rect">
            <a:avLst/>
          </a:prstGeom>
          <a:noFill/>
          <a:ln/>
        </p:spPr>
        <p:txBody>
          <a:bodyPr wrap="square" lIns="0" tIns="0" rIns="0" bIns="0" rtlCol="0" anchor="ctr"/>
          <a:lstStyle/>
          <a:p>
            <a:pPr indent="0" marL="0">
              <a:buNone/>
            </a:pPr>
            <a:r>
              <a:rPr lang="en-US" sz="580" b="1" dirty="0">
                <a:solidFill>
                  <a:srgbClr val="D97706"/>
                </a:solidFill>
              </a:rPr>
              <a:t>Concern</a:t>
            </a:r>
            <a:endParaRPr lang="en-US" sz="580" dirty="0"/>
          </a:p>
        </p:txBody>
      </p:sp>
      <p:sp>
        <p:nvSpPr>
          <p:cNvPr id="15" name="Text 13"/>
          <p:cNvSpPr/>
          <p:nvPr/>
        </p:nvSpPr>
        <p:spPr>
          <a:xfrm>
            <a:off x="3557016" y="1792224"/>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Pricing, rules, duplicate claims, timeliness</a:t>
            </a:r>
            <a:endParaRPr lang="en-US" sz="720" dirty="0"/>
          </a:p>
        </p:txBody>
      </p:sp>
      <p:sp>
        <p:nvSpPr>
          <p:cNvPr id="16" name="Text 14"/>
          <p:cNvSpPr/>
          <p:nvPr/>
        </p:nvSpPr>
        <p:spPr>
          <a:xfrm>
            <a:off x="3557016" y="2093976"/>
            <a:ext cx="411480" cy="137160"/>
          </a:xfrm>
          <a:prstGeom prst="rect">
            <a:avLst/>
          </a:prstGeom>
          <a:noFill/>
          <a:ln/>
        </p:spPr>
        <p:txBody>
          <a:bodyPr wrap="square" lIns="0" tIns="0" rIns="0" bIns="0" rtlCol="0" anchor="ctr"/>
          <a:lstStyle/>
          <a:p>
            <a:pPr indent="0" marL="0">
              <a:buNone/>
            </a:pPr>
            <a:r>
              <a:rPr lang="en-US" sz="580" b="1" dirty="0">
                <a:solidFill>
                  <a:srgbClr val="D97706"/>
                </a:solidFill>
              </a:rPr>
              <a:t>KPIs</a:t>
            </a:r>
            <a:endParaRPr lang="en-US" sz="580" dirty="0"/>
          </a:p>
        </p:txBody>
      </p:sp>
      <p:sp>
        <p:nvSpPr>
          <p:cNvPr id="17" name="Text 15"/>
          <p:cNvSpPr/>
          <p:nvPr/>
        </p:nvSpPr>
        <p:spPr>
          <a:xfrm>
            <a:off x="3557016" y="2240280"/>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Auto-adjudication, cycle time, payment accuracy</a:t>
            </a:r>
            <a:endParaRPr lang="en-US" sz="720" dirty="0"/>
          </a:p>
        </p:txBody>
      </p:sp>
      <p:sp>
        <p:nvSpPr>
          <p:cNvPr id="18" name="Shape 16"/>
          <p:cNvSpPr/>
          <p:nvPr/>
        </p:nvSpPr>
        <p:spPr>
          <a:xfrm>
            <a:off x="6355080" y="1133856"/>
            <a:ext cx="2514600" cy="1536192"/>
          </a:xfrm>
          <a:prstGeom prst="roundRect">
            <a:avLst>
              <a:gd name="adj" fmla="val 5952"/>
            </a:avLst>
          </a:prstGeom>
          <a:solidFill>
            <a:srgbClr val="F3EDFF"/>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19" name="Text 17"/>
          <p:cNvSpPr/>
          <p:nvPr/>
        </p:nvSpPr>
        <p:spPr>
          <a:xfrm>
            <a:off x="6464808" y="1243584"/>
            <a:ext cx="329184" cy="201168"/>
          </a:xfrm>
          <a:prstGeom prst="rect">
            <a:avLst/>
          </a:prstGeom>
          <a:noFill/>
          <a:ln/>
        </p:spPr>
        <p:txBody>
          <a:bodyPr wrap="square" lIns="0" tIns="0" rIns="0" bIns="0" rtlCol="0" anchor="ctr"/>
          <a:lstStyle/>
          <a:p>
            <a:pPr indent="0" marL="0">
              <a:buNone/>
            </a:pPr>
            <a:r>
              <a:rPr lang="en-US" sz="800" b="1" dirty="0">
                <a:solidFill>
                  <a:srgbClr val="7C3AED"/>
                </a:solidFill>
              </a:rPr>
              <a:t>03</a:t>
            </a:r>
            <a:endParaRPr lang="en-US" sz="800" dirty="0"/>
          </a:p>
        </p:txBody>
      </p:sp>
      <p:sp>
        <p:nvSpPr>
          <p:cNvPr id="20" name="Text 18"/>
          <p:cNvSpPr/>
          <p:nvPr/>
        </p:nvSpPr>
        <p:spPr>
          <a:xfrm>
            <a:off x="6812280" y="1225296"/>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HL7 ADT Interoperability</a:t>
            </a:r>
            <a:endParaRPr lang="en-US" sz="1000" dirty="0"/>
          </a:p>
        </p:txBody>
      </p:sp>
      <p:sp>
        <p:nvSpPr>
          <p:cNvPr id="21" name="Text 19"/>
          <p:cNvSpPr/>
          <p:nvPr/>
        </p:nvSpPr>
        <p:spPr>
          <a:xfrm>
            <a:off x="6483096" y="1645920"/>
            <a:ext cx="685800" cy="146304"/>
          </a:xfrm>
          <a:prstGeom prst="rect">
            <a:avLst/>
          </a:prstGeom>
          <a:noFill/>
          <a:ln/>
        </p:spPr>
        <p:txBody>
          <a:bodyPr wrap="square" lIns="0" tIns="0" rIns="0" bIns="0" rtlCol="0" anchor="ctr"/>
          <a:lstStyle/>
          <a:p>
            <a:pPr indent="0" marL="0">
              <a:buNone/>
            </a:pPr>
            <a:r>
              <a:rPr lang="en-US" sz="580" b="1" dirty="0">
                <a:solidFill>
                  <a:srgbClr val="7C3AED"/>
                </a:solidFill>
              </a:rPr>
              <a:t>Concern</a:t>
            </a:r>
            <a:endParaRPr lang="en-US" sz="580" dirty="0"/>
          </a:p>
        </p:txBody>
      </p:sp>
      <p:sp>
        <p:nvSpPr>
          <p:cNvPr id="22" name="Text 20"/>
          <p:cNvSpPr/>
          <p:nvPr/>
        </p:nvSpPr>
        <p:spPr>
          <a:xfrm>
            <a:off x="6483096" y="1792224"/>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Message reliability, matching, compliance triggers</a:t>
            </a:r>
            <a:endParaRPr lang="en-US" sz="720" dirty="0"/>
          </a:p>
        </p:txBody>
      </p:sp>
      <p:sp>
        <p:nvSpPr>
          <p:cNvPr id="23" name="Text 21"/>
          <p:cNvSpPr/>
          <p:nvPr/>
        </p:nvSpPr>
        <p:spPr>
          <a:xfrm>
            <a:off x="6483096" y="2093976"/>
            <a:ext cx="411480" cy="137160"/>
          </a:xfrm>
          <a:prstGeom prst="rect">
            <a:avLst/>
          </a:prstGeom>
          <a:noFill/>
          <a:ln/>
        </p:spPr>
        <p:txBody>
          <a:bodyPr wrap="square" lIns="0" tIns="0" rIns="0" bIns="0" rtlCol="0" anchor="ctr"/>
          <a:lstStyle/>
          <a:p>
            <a:pPr indent="0" marL="0">
              <a:buNone/>
            </a:pPr>
            <a:r>
              <a:rPr lang="en-US" sz="580" b="1" dirty="0">
                <a:solidFill>
                  <a:srgbClr val="7C3AED"/>
                </a:solidFill>
              </a:rPr>
              <a:t>KPIs</a:t>
            </a:r>
            <a:endParaRPr lang="en-US" sz="580" dirty="0"/>
          </a:p>
        </p:txBody>
      </p:sp>
      <p:sp>
        <p:nvSpPr>
          <p:cNvPr id="24" name="Text 22"/>
          <p:cNvSpPr/>
          <p:nvPr/>
        </p:nvSpPr>
        <p:spPr>
          <a:xfrm>
            <a:off x="6483096" y="2240280"/>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Event success, match rate, outreach latency</a:t>
            </a:r>
            <a:endParaRPr lang="en-US" sz="720" dirty="0"/>
          </a:p>
        </p:txBody>
      </p:sp>
      <p:sp>
        <p:nvSpPr>
          <p:cNvPr id="25" name="Shape 23"/>
          <p:cNvSpPr/>
          <p:nvPr/>
        </p:nvSpPr>
        <p:spPr>
          <a:xfrm>
            <a:off x="9281160" y="1133856"/>
            <a:ext cx="2514600" cy="1536192"/>
          </a:xfrm>
          <a:prstGeom prst="roundRect">
            <a:avLst>
              <a:gd name="adj" fmla="val 5952"/>
            </a:avLst>
          </a:prstGeom>
          <a:solidFill>
            <a:srgbClr val="E9F7F5"/>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26" name="Text 24"/>
          <p:cNvSpPr/>
          <p:nvPr/>
        </p:nvSpPr>
        <p:spPr>
          <a:xfrm>
            <a:off x="9390888" y="1243584"/>
            <a:ext cx="329184" cy="201168"/>
          </a:xfrm>
          <a:prstGeom prst="rect">
            <a:avLst/>
          </a:prstGeom>
          <a:noFill/>
          <a:ln/>
        </p:spPr>
        <p:txBody>
          <a:bodyPr wrap="square" lIns="0" tIns="0" rIns="0" bIns="0" rtlCol="0" anchor="ctr"/>
          <a:lstStyle/>
          <a:p>
            <a:pPr indent="0" marL="0">
              <a:buNone/>
            </a:pPr>
            <a:r>
              <a:rPr lang="en-US" sz="800" b="1" dirty="0">
                <a:solidFill>
                  <a:srgbClr val="0F766E"/>
                </a:solidFill>
              </a:rPr>
              <a:t>04</a:t>
            </a:r>
            <a:endParaRPr lang="en-US" sz="800" dirty="0"/>
          </a:p>
        </p:txBody>
      </p:sp>
      <p:sp>
        <p:nvSpPr>
          <p:cNvPr id="27" name="Text 25"/>
          <p:cNvSpPr/>
          <p:nvPr/>
        </p:nvSpPr>
        <p:spPr>
          <a:xfrm>
            <a:off x="9738360" y="1225296"/>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Provider Management &amp; Credentialing</a:t>
            </a:r>
            <a:endParaRPr lang="en-US" sz="1000" dirty="0"/>
          </a:p>
        </p:txBody>
      </p:sp>
      <p:sp>
        <p:nvSpPr>
          <p:cNvPr id="28" name="Text 26"/>
          <p:cNvSpPr/>
          <p:nvPr/>
        </p:nvSpPr>
        <p:spPr>
          <a:xfrm>
            <a:off x="9409176" y="1645920"/>
            <a:ext cx="685800" cy="146304"/>
          </a:xfrm>
          <a:prstGeom prst="rect">
            <a:avLst/>
          </a:prstGeom>
          <a:noFill/>
          <a:ln/>
        </p:spPr>
        <p:txBody>
          <a:bodyPr wrap="square" lIns="0" tIns="0" rIns="0" bIns="0" rtlCol="0" anchor="ctr"/>
          <a:lstStyle/>
          <a:p>
            <a:pPr indent="0" marL="0">
              <a:buNone/>
            </a:pPr>
            <a:r>
              <a:rPr lang="en-US" sz="580" b="1" dirty="0">
                <a:solidFill>
                  <a:srgbClr val="0F766E"/>
                </a:solidFill>
              </a:rPr>
              <a:t>Concern</a:t>
            </a:r>
            <a:endParaRPr lang="en-US" sz="580" dirty="0"/>
          </a:p>
        </p:txBody>
      </p:sp>
      <p:sp>
        <p:nvSpPr>
          <p:cNvPr id="29" name="Text 27"/>
          <p:cNvSpPr/>
          <p:nvPr/>
        </p:nvSpPr>
        <p:spPr>
          <a:xfrm>
            <a:off x="9409176" y="1792224"/>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Directory accuracy, credentialing, contracts</a:t>
            </a:r>
            <a:endParaRPr lang="en-US" sz="720" dirty="0"/>
          </a:p>
        </p:txBody>
      </p:sp>
      <p:sp>
        <p:nvSpPr>
          <p:cNvPr id="30" name="Text 28"/>
          <p:cNvSpPr/>
          <p:nvPr/>
        </p:nvSpPr>
        <p:spPr>
          <a:xfrm>
            <a:off x="9409176" y="2093976"/>
            <a:ext cx="411480" cy="137160"/>
          </a:xfrm>
          <a:prstGeom prst="rect">
            <a:avLst/>
          </a:prstGeom>
          <a:noFill/>
          <a:ln/>
        </p:spPr>
        <p:txBody>
          <a:bodyPr wrap="square" lIns="0" tIns="0" rIns="0" bIns="0" rtlCol="0" anchor="ctr"/>
          <a:lstStyle/>
          <a:p>
            <a:pPr indent="0" marL="0">
              <a:buNone/>
            </a:pPr>
            <a:r>
              <a:rPr lang="en-US" sz="580" b="1" dirty="0">
                <a:solidFill>
                  <a:srgbClr val="0F766E"/>
                </a:solidFill>
              </a:rPr>
              <a:t>KPIs</a:t>
            </a:r>
            <a:endParaRPr lang="en-US" sz="580" dirty="0"/>
          </a:p>
        </p:txBody>
      </p:sp>
      <p:sp>
        <p:nvSpPr>
          <p:cNvPr id="31" name="Text 29"/>
          <p:cNvSpPr/>
          <p:nvPr/>
        </p:nvSpPr>
        <p:spPr>
          <a:xfrm>
            <a:off x="9409176" y="2240280"/>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Turnaround, provider accuracy, claim defects</a:t>
            </a:r>
            <a:endParaRPr lang="en-US" sz="720" dirty="0"/>
          </a:p>
        </p:txBody>
      </p:sp>
      <p:sp>
        <p:nvSpPr>
          <p:cNvPr id="32" name="Shape 30"/>
          <p:cNvSpPr/>
          <p:nvPr/>
        </p:nvSpPr>
        <p:spPr>
          <a:xfrm>
            <a:off x="502920" y="2852928"/>
            <a:ext cx="2514600" cy="1536192"/>
          </a:xfrm>
          <a:prstGeom prst="roundRect">
            <a:avLst>
              <a:gd name="adj" fmla="val 5952"/>
            </a:avLst>
          </a:prstGeom>
          <a:solidFill>
            <a:srgbClr val="F3EDFF"/>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33" name="Text 31"/>
          <p:cNvSpPr/>
          <p:nvPr/>
        </p:nvSpPr>
        <p:spPr>
          <a:xfrm>
            <a:off x="612648" y="2962656"/>
            <a:ext cx="329184" cy="201168"/>
          </a:xfrm>
          <a:prstGeom prst="rect">
            <a:avLst/>
          </a:prstGeom>
          <a:noFill/>
          <a:ln/>
        </p:spPr>
        <p:txBody>
          <a:bodyPr wrap="square" lIns="0" tIns="0" rIns="0" bIns="0" rtlCol="0" anchor="ctr"/>
          <a:lstStyle/>
          <a:p>
            <a:pPr indent="0" marL="0">
              <a:buNone/>
            </a:pPr>
            <a:r>
              <a:rPr lang="en-US" sz="800" b="1" dirty="0">
                <a:solidFill>
                  <a:srgbClr val="7C3AED"/>
                </a:solidFill>
              </a:rPr>
              <a:t>05</a:t>
            </a:r>
            <a:endParaRPr lang="en-US" sz="800" dirty="0"/>
          </a:p>
        </p:txBody>
      </p:sp>
      <p:sp>
        <p:nvSpPr>
          <p:cNvPr id="34" name="Text 32"/>
          <p:cNvSpPr/>
          <p:nvPr/>
        </p:nvSpPr>
        <p:spPr>
          <a:xfrm>
            <a:off x="960120" y="2944368"/>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Utilization Mgmt &amp; Prior Auth</a:t>
            </a:r>
            <a:endParaRPr lang="en-US" sz="1000" dirty="0"/>
          </a:p>
        </p:txBody>
      </p:sp>
      <p:sp>
        <p:nvSpPr>
          <p:cNvPr id="35" name="Text 33"/>
          <p:cNvSpPr/>
          <p:nvPr/>
        </p:nvSpPr>
        <p:spPr>
          <a:xfrm>
            <a:off x="630936" y="3364992"/>
            <a:ext cx="685800" cy="146304"/>
          </a:xfrm>
          <a:prstGeom prst="rect">
            <a:avLst/>
          </a:prstGeom>
          <a:noFill/>
          <a:ln/>
        </p:spPr>
        <p:txBody>
          <a:bodyPr wrap="square" lIns="0" tIns="0" rIns="0" bIns="0" rtlCol="0" anchor="ctr"/>
          <a:lstStyle/>
          <a:p>
            <a:pPr indent="0" marL="0">
              <a:buNone/>
            </a:pPr>
            <a:r>
              <a:rPr lang="en-US" sz="580" b="1" dirty="0">
                <a:solidFill>
                  <a:srgbClr val="7C3AED"/>
                </a:solidFill>
              </a:rPr>
              <a:t>Concern</a:t>
            </a:r>
            <a:endParaRPr lang="en-US" sz="580" dirty="0"/>
          </a:p>
        </p:txBody>
      </p:sp>
      <p:sp>
        <p:nvSpPr>
          <p:cNvPr id="36" name="Text 34"/>
          <p:cNvSpPr/>
          <p:nvPr/>
        </p:nvSpPr>
        <p:spPr>
          <a:xfrm>
            <a:off x="630936" y="3511296"/>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Policy accuracy, reviewer workload, TAT</a:t>
            </a:r>
            <a:endParaRPr lang="en-US" sz="720" dirty="0"/>
          </a:p>
        </p:txBody>
      </p:sp>
      <p:sp>
        <p:nvSpPr>
          <p:cNvPr id="37" name="Text 35"/>
          <p:cNvSpPr/>
          <p:nvPr/>
        </p:nvSpPr>
        <p:spPr>
          <a:xfrm>
            <a:off x="630936" y="3813048"/>
            <a:ext cx="411480" cy="137160"/>
          </a:xfrm>
          <a:prstGeom prst="rect">
            <a:avLst/>
          </a:prstGeom>
          <a:noFill/>
          <a:ln/>
        </p:spPr>
        <p:txBody>
          <a:bodyPr wrap="square" lIns="0" tIns="0" rIns="0" bIns="0" rtlCol="0" anchor="ctr"/>
          <a:lstStyle/>
          <a:p>
            <a:pPr indent="0" marL="0">
              <a:buNone/>
            </a:pPr>
            <a:r>
              <a:rPr lang="en-US" sz="580" b="1" dirty="0">
                <a:solidFill>
                  <a:srgbClr val="7C3AED"/>
                </a:solidFill>
              </a:rPr>
              <a:t>KPIs</a:t>
            </a:r>
            <a:endParaRPr lang="en-US" sz="580" dirty="0"/>
          </a:p>
        </p:txBody>
      </p:sp>
      <p:sp>
        <p:nvSpPr>
          <p:cNvPr id="38" name="Text 36"/>
          <p:cNvSpPr/>
          <p:nvPr/>
        </p:nvSpPr>
        <p:spPr>
          <a:xfrm>
            <a:off x="630936" y="3959352"/>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Approval TAT, auto-approval, denial/overturn</a:t>
            </a:r>
            <a:endParaRPr lang="en-US" sz="720" dirty="0"/>
          </a:p>
        </p:txBody>
      </p:sp>
      <p:sp>
        <p:nvSpPr>
          <p:cNvPr id="39" name="Shape 37"/>
          <p:cNvSpPr/>
          <p:nvPr/>
        </p:nvSpPr>
        <p:spPr>
          <a:xfrm>
            <a:off x="3429000" y="2852928"/>
            <a:ext cx="2514600" cy="1536192"/>
          </a:xfrm>
          <a:prstGeom prst="roundRect">
            <a:avLst>
              <a:gd name="adj" fmla="val 5952"/>
            </a:avLst>
          </a:prstGeom>
          <a:solidFill>
            <a:srgbClr val="FDECEC"/>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40" name="Text 38"/>
          <p:cNvSpPr/>
          <p:nvPr/>
        </p:nvSpPr>
        <p:spPr>
          <a:xfrm>
            <a:off x="3538728" y="2962656"/>
            <a:ext cx="329184" cy="201168"/>
          </a:xfrm>
          <a:prstGeom prst="rect">
            <a:avLst/>
          </a:prstGeom>
          <a:noFill/>
          <a:ln/>
        </p:spPr>
        <p:txBody>
          <a:bodyPr wrap="square" lIns="0" tIns="0" rIns="0" bIns="0" rtlCol="0" anchor="ctr"/>
          <a:lstStyle/>
          <a:p>
            <a:pPr indent="0" marL="0">
              <a:buNone/>
            </a:pPr>
            <a:r>
              <a:rPr lang="en-US" sz="800" b="1" dirty="0">
                <a:solidFill>
                  <a:srgbClr val="DC2626"/>
                </a:solidFill>
              </a:rPr>
              <a:t>06</a:t>
            </a:r>
            <a:endParaRPr lang="en-US" sz="800" dirty="0"/>
          </a:p>
        </p:txBody>
      </p:sp>
      <p:sp>
        <p:nvSpPr>
          <p:cNvPr id="41" name="Text 39"/>
          <p:cNvSpPr/>
          <p:nvPr/>
        </p:nvSpPr>
        <p:spPr>
          <a:xfrm>
            <a:off x="3886200" y="2944368"/>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Appeals &amp; Grievances</a:t>
            </a:r>
            <a:endParaRPr lang="en-US" sz="1000" dirty="0"/>
          </a:p>
        </p:txBody>
      </p:sp>
      <p:sp>
        <p:nvSpPr>
          <p:cNvPr id="42" name="Text 40"/>
          <p:cNvSpPr/>
          <p:nvPr/>
        </p:nvSpPr>
        <p:spPr>
          <a:xfrm>
            <a:off x="3557016" y="3364992"/>
            <a:ext cx="685800" cy="146304"/>
          </a:xfrm>
          <a:prstGeom prst="rect">
            <a:avLst/>
          </a:prstGeom>
          <a:noFill/>
          <a:ln/>
        </p:spPr>
        <p:txBody>
          <a:bodyPr wrap="square" lIns="0" tIns="0" rIns="0" bIns="0" rtlCol="0" anchor="ctr"/>
          <a:lstStyle/>
          <a:p>
            <a:pPr indent="0" marL="0">
              <a:buNone/>
            </a:pPr>
            <a:r>
              <a:rPr lang="en-US" sz="580" b="1" dirty="0">
                <a:solidFill>
                  <a:srgbClr val="DC2626"/>
                </a:solidFill>
              </a:rPr>
              <a:t>Concern</a:t>
            </a:r>
            <a:endParaRPr lang="en-US" sz="580" dirty="0"/>
          </a:p>
        </p:txBody>
      </p:sp>
      <p:sp>
        <p:nvSpPr>
          <p:cNvPr id="43" name="Text 41"/>
          <p:cNvSpPr/>
          <p:nvPr/>
        </p:nvSpPr>
        <p:spPr>
          <a:xfrm>
            <a:off x="3557016" y="3511296"/>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Deadlines, evidence traceability, fairness</a:t>
            </a:r>
            <a:endParaRPr lang="en-US" sz="720" dirty="0"/>
          </a:p>
        </p:txBody>
      </p:sp>
      <p:sp>
        <p:nvSpPr>
          <p:cNvPr id="44" name="Text 42"/>
          <p:cNvSpPr/>
          <p:nvPr/>
        </p:nvSpPr>
        <p:spPr>
          <a:xfrm>
            <a:off x="3557016" y="3813048"/>
            <a:ext cx="411480" cy="137160"/>
          </a:xfrm>
          <a:prstGeom prst="rect">
            <a:avLst/>
          </a:prstGeom>
          <a:noFill/>
          <a:ln/>
        </p:spPr>
        <p:txBody>
          <a:bodyPr wrap="square" lIns="0" tIns="0" rIns="0" bIns="0" rtlCol="0" anchor="ctr"/>
          <a:lstStyle/>
          <a:p>
            <a:pPr indent="0" marL="0">
              <a:buNone/>
            </a:pPr>
            <a:r>
              <a:rPr lang="en-US" sz="580" b="1" dirty="0">
                <a:solidFill>
                  <a:srgbClr val="DC2626"/>
                </a:solidFill>
              </a:rPr>
              <a:t>KPIs</a:t>
            </a:r>
            <a:endParaRPr lang="en-US" sz="580" dirty="0"/>
          </a:p>
        </p:txBody>
      </p:sp>
      <p:sp>
        <p:nvSpPr>
          <p:cNvPr id="45" name="Text 43"/>
          <p:cNvSpPr/>
          <p:nvPr/>
        </p:nvSpPr>
        <p:spPr>
          <a:xfrm>
            <a:off x="3557016" y="3959352"/>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SLA compliance, overturn %, resolution time</a:t>
            </a:r>
            <a:endParaRPr lang="en-US" sz="720" dirty="0"/>
          </a:p>
        </p:txBody>
      </p:sp>
      <p:sp>
        <p:nvSpPr>
          <p:cNvPr id="46" name="Shape 44"/>
          <p:cNvSpPr/>
          <p:nvPr/>
        </p:nvSpPr>
        <p:spPr>
          <a:xfrm>
            <a:off x="6355080" y="2852928"/>
            <a:ext cx="2514600" cy="1536192"/>
          </a:xfrm>
          <a:prstGeom prst="roundRect">
            <a:avLst>
              <a:gd name="adj" fmla="val 5952"/>
            </a:avLst>
          </a:prstGeom>
          <a:solidFill>
            <a:srgbClr val="EAF7F0"/>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47" name="Text 45"/>
          <p:cNvSpPr/>
          <p:nvPr/>
        </p:nvSpPr>
        <p:spPr>
          <a:xfrm>
            <a:off x="6464808" y="2962656"/>
            <a:ext cx="329184" cy="201168"/>
          </a:xfrm>
          <a:prstGeom prst="rect">
            <a:avLst/>
          </a:prstGeom>
          <a:noFill/>
          <a:ln/>
        </p:spPr>
        <p:txBody>
          <a:bodyPr wrap="square" lIns="0" tIns="0" rIns="0" bIns="0" rtlCol="0" anchor="ctr"/>
          <a:lstStyle/>
          <a:p>
            <a:pPr indent="0" marL="0">
              <a:buNone/>
            </a:pPr>
            <a:r>
              <a:rPr lang="en-US" sz="800" b="1" dirty="0">
                <a:solidFill>
                  <a:srgbClr val="16A34A"/>
                </a:solidFill>
              </a:rPr>
              <a:t>07</a:t>
            </a:r>
            <a:endParaRPr lang="en-US" sz="800" dirty="0"/>
          </a:p>
        </p:txBody>
      </p:sp>
      <p:sp>
        <p:nvSpPr>
          <p:cNvPr id="48" name="Text 46"/>
          <p:cNvSpPr/>
          <p:nvPr/>
        </p:nvSpPr>
        <p:spPr>
          <a:xfrm>
            <a:off x="6812280" y="2944368"/>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Care Mgmt &amp; Care Gap Analytics</a:t>
            </a:r>
            <a:endParaRPr lang="en-US" sz="1000" dirty="0"/>
          </a:p>
        </p:txBody>
      </p:sp>
      <p:sp>
        <p:nvSpPr>
          <p:cNvPr id="49" name="Text 47"/>
          <p:cNvSpPr/>
          <p:nvPr/>
        </p:nvSpPr>
        <p:spPr>
          <a:xfrm>
            <a:off x="6483096" y="3364992"/>
            <a:ext cx="685800" cy="146304"/>
          </a:xfrm>
          <a:prstGeom prst="rect">
            <a:avLst/>
          </a:prstGeom>
          <a:noFill/>
          <a:ln/>
        </p:spPr>
        <p:txBody>
          <a:bodyPr wrap="square" lIns="0" tIns="0" rIns="0" bIns="0" rtlCol="0" anchor="ctr"/>
          <a:lstStyle/>
          <a:p>
            <a:pPr indent="0" marL="0">
              <a:buNone/>
            </a:pPr>
            <a:r>
              <a:rPr lang="en-US" sz="580" b="1" dirty="0">
                <a:solidFill>
                  <a:srgbClr val="16A34A"/>
                </a:solidFill>
              </a:rPr>
              <a:t>Concern</a:t>
            </a:r>
            <a:endParaRPr lang="en-US" sz="580" dirty="0"/>
          </a:p>
        </p:txBody>
      </p:sp>
      <p:sp>
        <p:nvSpPr>
          <p:cNvPr id="50" name="Text 48"/>
          <p:cNvSpPr/>
          <p:nvPr/>
        </p:nvSpPr>
        <p:spPr>
          <a:xfrm>
            <a:off x="6483096" y="3511296"/>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Risk scoring, outreach, closed-loop tracking</a:t>
            </a:r>
            <a:endParaRPr lang="en-US" sz="720" dirty="0"/>
          </a:p>
        </p:txBody>
      </p:sp>
      <p:sp>
        <p:nvSpPr>
          <p:cNvPr id="51" name="Text 49"/>
          <p:cNvSpPr/>
          <p:nvPr/>
        </p:nvSpPr>
        <p:spPr>
          <a:xfrm>
            <a:off x="6483096" y="3813048"/>
            <a:ext cx="411480" cy="137160"/>
          </a:xfrm>
          <a:prstGeom prst="rect">
            <a:avLst/>
          </a:prstGeom>
          <a:noFill/>
          <a:ln/>
        </p:spPr>
        <p:txBody>
          <a:bodyPr wrap="square" lIns="0" tIns="0" rIns="0" bIns="0" rtlCol="0" anchor="ctr"/>
          <a:lstStyle/>
          <a:p>
            <a:pPr indent="0" marL="0">
              <a:buNone/>
            </a:pPr>
            <a:r>
              <a:rPr lang="en-US" sz="580" b="1" dirty="0">
                <a:solidFill>
                  <a:srgbClr val="16A34A"/>
                </a:solidFill>
              </a:rPr>
              <a:t>KPIs</a:t>
            </a:r>
            <a:endParaRPr lang="en-US" sz="580" dirty="0"/>
          </a:p>
        </p:txBody>
      </p:sp>
      <p:sp>
        <p:nvSpPr>
          <p:cNvPr id="52" name="Text 50"/>
          <p:cNvSpPr/>
          <p:nvPr/>
        </p:nvSpPr>
        <p:spPr>
          <a:xfrm>
            <a:off x="6483096" y="3959352"/>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Gap closure, readmission, engagement</a:t>
            </a:r>
            <a:endParaRPr lang="en-US" sz="720" dirty="0"/>
          </a:p>
        </p:txBody>
      </p:sp>
      <p:sp>
        <p:nvSpPr>
          <p:cNvPr id="53" name="Shape 51"/>
          <p:cNvSpPr/>
          <p:nvPr/>
        </p:nvSpPr>
        <p:spPr>
          <a:xfrm>
            <a:off x="9281160" y="2852928"/>
            <a:ext cx="2514600" cy="1536192"/>
          </a:xfrm>
          <a:prstGeom prst="roundRect">
            <a:avLst>
              <a:gd name="adj" fmla="val 5952"/>
            </a:avLst>
          </a:prstGeom>
          <a:solidFill>
            <a:srgbClr val="EAF7F0"/>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54" name="Text 52"/>
          <p:cNvSpPr/>
          <p:nvPr/>
        </p:nvSpPr>
        <p:spPr>
          <a:xfrm>
            <a:off x="9390888" y="2962656"/>
            <a:ext cx="329184" cy="201168"/>
          </a:xfrm>
          <a:prstGeom prst="rect">
            <a:avLst/>
          </a:prstGeom>
          <a:noFill/>
          <a:ln/>
        </p:spPr>
        <p:txBody>
          <a:bodyPr wrap="square" lIns="0" tIns="0" rIns="0" bIns="0" rtlCol="0" anchor="ctr"/>
          <a:lstStyle/>
          <a:p>
            <a:pPr indent="0" marL="0">
              <a:buNone/>
            </a:pPr>
            <a:r>
              <a:rPr lang="en-US" sz="800" b="1" dirty="0">
                <a:solidFill>
                  <a:srgbClr val="16A34A"/>
                </a:solidFill>
              </a:rPr>
              <a:t>08</a:t>
            </a:r>
            <a:endParaRPr lang="en-US" sz="800" dirty="0"/>
          </a:p>
        </p:txBody>
      </p:sp>
      <p:sp>
        <p:nvSpPr>
          <p:cNvPr id="55" name="Text 53"/>
          <p:cNvSpPr/>
          <p:nvPr/>
        </p:nvSpPr>
        <p:spPr>
          <a:xfrm>
            <a:off x="9738360" y="2944368"/>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Encounter Data &amp; CMS Reporting</a:t>
            </a:r>
            <a:endParaRPr lang="en-US" sz="1000" dirty="0"/>
          </a:p>
        </p:txBody>
      </p:sp>
      <p:sp>
        <p:nvSpPr>
          <p:cNvPr id="56" name="Text 54"/>
          <p:cNvSpPr/>
          <p:nvPr/>
        </p:nvSpPr>
        <p:spPr>
          <a:xfrm>
            <a:off x="9409176" y="3364992"/>
            <a:ext cx="685800" cy="146304"/>
          </a:xfrm>
          <a:prstGeom prst="rect">
            <a:avLst/>
          </a:prstGeom>
          <a:noFill/>
          <a:ln/>
        </p:spPr>
        <p:txBody>
          <a:bodyPr wrap="square" lIns="0" tIns="0" rIns="0" bIns="0" rtlCol="0" anchor="ctr"/>
          <a:lstStyle/>
          <a:p>
            <a:pPr indent="0" marL="0">
              <a:buNone/>
            </a:pPr>
            <a:r>
              <a:rPr lang="en-US" sz="580" b="1" dirty="0">
                <a:solidFill>
                  <a:srgbClr val="16A34A"/>
                </a:solidFill>
              </a:rPr>
              <a:t>Concern</a:t>
            </a:r>
            <a:endParaRPr lang="en-US" sz="580" dirty="0"/>
          </a:p>
        </p:txBody>
      </p:sp>
      <p:sp>
        <p:nvSpPr>
          <p:cNvPr id="57" name="Text 55"/>
          <p:cNvSpPr/>
          <p:nvPr/>
        </p:nvSpPr>
        <p:spPr>
          <a:xfrm>
            <a:off x="9409176" y="3511296"/>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Completeness, coding, reject management</a:t>
            </a:r>
            <a:endParaRPr lang="en-US" sz="720" dirty="0"/>
          </a:p>
        </p:txBody>
      </p:sp>
      <p:sp>
        <p:nvSpPr>
          <p:cNvPr id="58" name="Text 56"/>
          <p:cNvSpPr/>
          <p:nvPr/>
        </p:nvSpPr>
        <p:spPr>
          <a:xfrm>
            <a:off x="9409176" y="3813048"/>
            <a:ext cx="411480" cy="137160"/>
          </a:xfrm>
          <a:prstGeom prst="rect">
            <a:avLst/>
          </a:prstGeom>
          <a:noFill/>
          <a:ln/>
        </p:spPr>
        <p:txBody>
          <a:bodyPr wrap="square" lIns="0" tIns="0" rIns="0" bIns="0" rtlCol="0" anchor="ctr"/>
          <a:lstStyle/>
          <a:p>
            <a:pPr indent="0" marL="0">
              <a:buNone/>
            </a:pPr>
            <a:r>
              <a:rPr lang="en-US" sz="580" b="1" dirty="0">
                <a:solidFill>
                  <a:srgbClr val="16A34A"/>
                </a:solidFill>
              </a:rPr>
              <a:t>KPIs</a:t>
            </a:r>
            <a:endParaRPr lang="en-US" sz="580" dirty="0"/>
          </a:p>
        </p:txBody>
      </p:sp>
      <p:sp>
        <p:nvSpPr>
          <p:cNvPr id="59" name="Text 57"/>
          <p:cNvSpPr/>
          <p:nvPr/>
        </p:nvSpPr>
        <p:spPr>
          <a:xfrm>
            <a:off x="9409176" y="3959352"/>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CMS acceptance, rejection %, timeliness</a:t>
            </a:r>
            <a:endParaRPr lang="en-US" sz="720" dirty="0"/>
          </a:p>
        </p:txBody>
      </p:sp>
      <p:sp>
        <p:nvSpPr>
          <p:cNvPr id="60" name="Shape 58"/>
          <p:cNvSpPr/>
          <p:nvPr/>
        </p:nvSpPr>
        <p:spPr>
          <a:xfrm>
            <a:off x="502920" y="4572000"/>
            <a:ext cx="2514600" cy="1536192"/>
          </a:xfrm>
          <a:prstGeom prst="roundRect">
            <a:avLst>
              <a:gd name="adj" fmla="val 5952"/>
            </a:avLst>
          </a:prstGeom>
          <a:solidFill>
            <a:srgbClr val="FFF0E8"/>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61" name="Text 59"/>
          <p:cNvSpPr/>
          <p:nvPr/>
        </p:nvSpPr>
        <p:spPr>
          <a:xfrm>
            <a:off x="612648" y="4681728"/>
            <a:ext cx="329184" cy="201168"/>
          </a:xfrm>
          <a:prstGeom prst="rect">
            <a:avLst/>
          </a:prstGeom>
          <a:noFill/>
          <a:ln/>
        </p:spPr>
        <p:txBody>
          <a:bodyPr wrap="square" lIns="0" tIns="0" rIns="0" bIns="0" rtlCol="0" anchor="ctr"/>
          <a:lstStyle/>
          <a:p>
            <a:pPr indent="0" marL="0">
              <a:buNone/>
            </a:pPr>
            <a:r>
              <a:rPr lang="en-US" sz="800" b="1" dirty="0">
                <a:solidFill>
                  <a:srgbClr val="EA580C"/>
                </a:solidFill>
              </a:rPr>
              <a:t>09</a:t>
            </a:r>
            <a:endParaRPr lang="en-US" sz="800" dirty="0"/>
          </a:p>
        </p:txBody>
      </p:sp>
      <p:sp>
        <p:nvSpPr>
          <p:cNvPr id="62" name="Text 60"/>
          <p:cNvSpPr/>
          <p:nvPr/>
        </p:nvSpPr>
        <p:spPr>
          <a:xfrm>
            <a:off x="960120" y="4663440"/>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Third Party Liability</a:t>
            </a:r>
            <a:endParaRPr lang="en-US" sz="1000" dirty="0"/>
          </a:p>
        </p:txBody>
      </p:sp>
      <p:sp>
        <p:nvSpPr>
          <p:cNvPr id="63" name="Text 61"/>
          <p:cNvSpPr/>
          <p:nvPr/>
        </p:nvSpPr>
        <p:spPr>
          <a:xfrm>
            <a:off x="630936" y="5084064"/>
            <a:ext cx="685800" cy="146304"/>
          </a:xfrm>
          <a:prstGeom prst="rect">
            <a:avLst/>
          </a:prstGeom>
          <a:noFill/>
          <a:ln/>
        </p:spPr>
        <p:txBody>
          <a:bodyPr wrap="square" lIns="0" tIns="0" rIns="0" bIns="0" rtlCol="0" anchor="ctr"/>
          <a:lstStyle/>
          <a:p>
            <a:pPr indent="0" marL="0">
              <a:buNone/>
            </a:pPr>
            <a:r>
              <a:rPr lang="en-US" sz="580" b="1" dirty="0">
                <a:solidFill>
                  <a:srgbClr val="EA580C"/>
                </a:solidFill>
              </a:rPr>
              <a:t>Concern</a:t>
            </a:r>
            <a:endParaRPr lang="en-US" sz="580" dirty="0"/>
          </a:p>
        </p:txBody>
      </p:sp>
      <p:sp>
        <p:nvSpPr>
          <p:cNvPr id="64" name="Text 62"/>
          <p:cNvSpPr/>
          <p:nvPr/>
        </p:nvSpPr>
        <p:spPr>
          <a:xfrm>
            <a:off x="630936" y="5230368"/>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COB accuracy, carrier matching, recovery</a:t>
            </a:r>
            <a:endParaRPr lang="en-US" sz="720" dirty="0"/>
          </a:p>
        </p:txBody>
      </p:sp>
      <p:sp>
        <p:nvSpPr>
          <p:cNvPr id="65" name="Text 63"/>
          <p:cNvSpPr/>
          <p:nvPr/>
        </p:nvSpPr>
        <p:spPr>
          <a:xfrm>
            <a:off x="630936" y="5532120"/>
            <a:ext cx="411480" cy="137160"/>
          </a:xfrm>
          <a:prstGeom prst="rect">
            <a:avLst/>
          </a:prstGeom>
          <a:noFill/>
          <a:ln/>
        </p:spPr>
        <p:txBody>
          <a:bodyPr wrap="square" lIns="0" tIns="0" rIns="0" bIns="0" rtlCol="0" anchor="ctr"/>
          <a:lstStyle/>
          <a:p>
            <a:pPr indent="0" marL="0">
              <a:buNone/>
            </a:pPr>
            <a:r>
              <a:rPr lang="en-US" sz="580" b="1" dirty="0">
                <a:solidFill>
                  <a:srgbClr val="EA580C"/>
                </a:solidFill>
              </a:rPr>
              <a:t>KPIs</a:t>
            </a:r>
            <a:endParaRPr lang="en-US" sz="580" dirty="0"/>
          </a:p>
        </p:txBody>
      </p:sp>
      <p:sp>
        <p:nvSpPr>
          <p:cNvPr id="66" name="Text 64"/>
          <p:cNvSpPr/>
          <p:nvPr/>
        </p:nvSpPr>
        <p:spPr>
          <a:xfrm>
            <a:off x="630936" y="5678424"/>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Recovery $, avoidances, recovery cycle time</a:t>
            </a:r>
            <a:endParaRPr lang="en-US" sz="720" dirty="0"/>
          </a:p>
        </p:txBody>
      </p:sp>
      <p:sp>
        <p:nvSpPr>
          <p:cNvPr id="67" name="Shape 65"/>
          <p:cNvSpPr/>
          <p:nvPr/>
        </p:nvSpPr>
        <p:spPr>
          <a:xfrm>
            <a:off x="3429000" y="4572000"/>
            <a:ext cx="2514600" cy="1536192"/>
          </a:xfrm>
          <a:prstGeom prst="roundRect">
            <a:avLst>
              <a:gd name="adj" fmla="val 5952"/>
            </a:avLst>
          </a:prstGeom>
          <a:solidFill>
            <a:srgbClr val="FFF0E8"/>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68" name="Text 66"/>
          <p:cNvSpPr/>
          <p:nvPr/>
        </p:nvSpPr>
        <p:spPr>
          <a:xfrm>
            <a:off x="3538728" y="4681728"/>
            <a:ext cx="329184" cy="201168"/>
          </a:xfrm>
          <a:prstGeom prst="rect">
            <a:avLst/>
          </a:prstGeom>
          <a:noFill/>
          <a:ln/>
        </p:spPr>
        <p:txBody>
          <a:bodyPr wrap="square" lIns="0" tIns="0" rIns="0" bIns="0" rtlCol="0" anchor="ctr"/>
          <a:lstStyle/>
          <a:p>
            <a:pPr indent="0" marL="0">
              <a:buNone/>
            </a:pPr>
            <a:r>
              <a:rPr lang="en-US" sz="800" b="1" dirty="0">
                <a:solidFill>
                  <a:srgbClr val="EA580C"/>
                </a:solidFill>
              </a:rPr>
              <a:t>10</a:t>
            </a:r>
            <a:endParaRPr lang="en-US" sz="800" dirty="0"/>
          </a:p>
        </p:txBody>
      </p:sp>
      <p:sp>
        <p:nvSpPr>
          <p:cNvPr id="69" name="Text 67"/>
          <p:cNvSpPr/>
          <p:nvPr/>
        </p:nvSpPr>
        <p:spPr>
          <a:xfrm>
            <a:off x="3886200" y="4663440"/>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Financial Mgmt &amp; Payment Integrity</a:t>
            </a:r>
            <a:endParaRPr lang="en-US" sz="1000" dirty="0"/>
          </a:p>
        </p:txBody>
      </p:sp>
      <p:sp>
        <p:nvSpPr>
          <p:cNvPr id="70" name="Text 68"/>
          <p:cNvSpPr/>
          <p:nvPr/>
        </p:nvSpPr>
        <p:spPr>
          <a:xfrm>
            <a:off x="3557016" y="5084064"/>
            <a:ext cx="685800" cy="146304"/>
          </a:xfrm>
          <a:prstGeom prst="rect">
            <a:avLst/>
          </a:prstGeom>
          <a:noFill/>
          <a:ln/>
        </p:spPr>
        <p:txBody>
          <a:bodyPr wrap="square" lIns="0" tIns="0" rIns="0" bIns="0" rtlCol="0" anchor="ctr"/>
          <a:lstStyle/>
          <a:p>
            <a:pPr indent="0" marL="0">
              <a:buNone/>
            </a:pPr>
            <a:r>
              <a:rPr lang="en-US" sz="580" b="1" dirty="0">
                <a:solidFill>
                  <a:srgbClr val="EA580C"/>
                </a:solidFill>
              </a:rPr>
              <a:t>Concern</a:t>
            </a:r>
            <a:endParaRPr lang="en-US" sz="580" dirty="0"/>
          </a:p>
        </p:txBody>
      </p:sp>
      <p:sp>
        <p:nvSpPr>
          <p:cNvPr id="71" name="Text 69"/>
          <p:cNvSpPr/>
          <p:nvPr/>
        </p:nvSpPr>
        <p:spPr>
          <a:xfrm>
            <a:off x="3557016" y="5230368"/>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Overpayments, fraud/waste, reconciliation</a:t>
            </a:r>
            <a:endParaRPr lang="en-US" sz="720" dirty="0"/>
          </a:p>
        </p:txBody>
      </p:sp>
      <p:sp>
        <p:nvSpPr>
          <p:cNvPr id="72" name="Text 70"/>
          <p:cNvSpPr/>
          <p:nvPr/>
        </p:nvSpPr>
        <p:spPr>
          <a:xfrm>
            <a:off x="3557016" y="5532120"/>
            <a:ext cx="411480" cy="137160"/>
          </a:xfrm>
          <a:prstGeom prst="rect">
            <a:avLst/>
          </a:prstGeom>
          <a:noFill/>
          <a:ln/>
        </p:spPr>
        <p:txBody>
          <a:bodyPr wrap="square" lIns="0" tIns="0" rIns="0" bIns="0" rtlCol="0" anchor="ctr"/>
          <a:lstStyle/>
          <a:p>
            <a:pPr indent="0" marL="0">
              <a:buNone/>
            </a:pPr>
            <a:r>
              <a:rPr lang="en-US" sz="580" b="1" dirty="0">
                <a:solidFill>
                  <a:srgbClr val="EA580C"/>
                </a:solidFill>
              </a:rPr>
              <a:t>KPIs</a:t>
            </a:r>
            <a:endParaRPr lang="en-US" sz="580" dirty="0"/>
          </a:p>
        </p:txBody>
      </p:sp>
      <p:sp>
        <p:nvSpPr>
          <p:cNvPr id="73" name="Text 71"/>
          <p:cNvSpPr/>
          <p:nvPr/>
        </p:nvSpPr>
        <p:spPr>
          <a:xfrm>
            <a:off x="3557016" y="5678424"/>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Payment accuracy, recovered $, false positives</a:t>
            </a:r>
            <a:endParaRPr lang="en-US" sz="720" dirty="0"/>
          </a:p>
        </p:txBody>
      </p:sp>
      <p:sp>
        <p:nvSpPr>
          <p:cNvPr id="74" name="Shape 72"/>
          <p:cNvSpPr/>
          <p:nvPr/>
        </p:nvSpPr>
        <p:spPr>
          <a:xfrm>
            <a:off x="6355080" y="4572000"/>
            <a:ext cx="2514600" cy="1536192"/>
          </a:xfrm>
          <a:prstGeom prst="roundRect">
            <a:avLst>
              <a:gd name="adj" fmla="val 5952"/>
            </a:avLst>
          </a:prstGeom>
          <a:solidFill>
            <a:srgbClr val="EAF2FF"/>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75" name="Text 73"/>
          <p:cNvSpPr/>
          <p:nvPr/>
        </p:nvSpPr>
        <p:spPr>
          <a:xfrm>
            <a:off x="6464808" y="4681728"/>
            <a:ext cx="329184" cy="201168"/>
          </a:xfrm>
          <a:prstGeom prst="rect">
            <a:avLst/>
          </a:prstGeom>
          <a:noFill/>
          <a:ln/>
        </p:spPr>
        <p:txBody>
          <a:bodyPr wrap="square" lIns="0" tIns="0" rIns="0" bIns="0" rtlCol="0" anchor="ctr"/>
          <a:lstStyle/>
          <a:p>
            <a:pPr indent="0" marL="0">
              <a:buNone/>
            </a:pPr>
            <a:r>
              <a:rPr lang="en-US" sz="800" b="1" dirty="0">
                <a:solidFill>
                  <a:srgbClr val="2563EB"/>
                </a:solidFill>
              </a:rPr>
              <a:t>11</a:t>
            </a:r>
            <a:endParaRPr lang="en-US" sz="800" dirty="0"/>
          </a:p>
        </p:txBody>
      </p:sp>
      <p:sp>
        <p:nvSpPr>
          <p:cNvPr id="76" name="Text 74"/>
          <p:cNvSpPr/>
          <p:nvPr/>
        </p:nvSpPr>
        <p:spPr>
          <a:xfrm>
            <a:off x="6812280" y="4663440"/>
            <a:ext cx="1947672" cy="329184"/>
          </a:xfrm>
          <a:prstGeom prst="rect">
            <a:avLst/>
          </a:prstGeom>
          <a:noFill/>
          <a:ln/>
        </p:spPr>
        <p:txBody>
          <a:bodyPr wrap="square" lIns="0" tIns="0" rIns="0" bIns="0" rtlCol="0" anchor="ctr">
            <a:normAutofit/>
          </a:bodyPr>
          <a:lstStyle/>
          <a:p>
            <a:pPr indent="0" marL="0">
              <a:buNone/>
            </a:pPr>
            <a:r>
              <a:rPr lang="en-US" sz="1000" b="1" dirty="0">
                <a:solidFill>
                  <a:srgbClr val="13233A"/>
                </a:solidFill>
              </a:rPr>
              <a:t>Enterprise Data Warehouse</a:t>
            </a:r>
            <a:endParaRPr lang="en-US" sz="1000" dirty="0"/>
          </a:p>
        </p:txBody>
      </p:sp>
      <p:sp>
        <p:nvSpPr>
          <p:cNvPr id="77" name="Text 75"/>
          <p:cNvSpPr/>
          <p:nvPr/>
        </p:nvSpPr>
        <p:spPr>
          <a:xfrm>
            <a:off x="6483096" y="5084064"/>
            <a:ext cx="685800" cy="146304"/>
          </a:xfrm>
          <a:prstGeom prst="rect">
            <a:avLst/>
          </a:prstGeom>
          <a:noFill/>
          <a:ln/>
        </p:spPr>
        <p:txBody>
          <a:bodyPr wrap="square" lIns="0" tIns="0" rIns="0" bIns="0" rtlCol="0" anchor="ctr"/>
          <a:lstStyle/>
          <a:p>
            <a:pPr indent="0" marL="0">
              <a:buNone/>
            </a:pPr>
            <a:r>
              <a:rPr lang="en-US" sz="580" b="1" dirty="0">
                <a:solidFill>
                  <a:srgbClr val="2563EB"/>
                </a:solidFill>
              </a:rPr>
              <a:t>Concern</a:t>
            </a:r>
            <a:endParaRPr lang="en-US" sz="580" dirty="0"/>
          </a:p>
        </p:txBody>
      </p:sp>
      <p:sp>
        <p:nvSpPr>
          <p:cNvPr id="78" name="Text 76"/>
          <p:cNvSpPr/>
          <p:nvPr/>
        </p:nvSpPr>
        <p:spPr>
          <a:xfrm>
            <a:off x="6483096" y="5230368"/>
            <a:ext cx="2258568" cy="246888"/>
          </a:xfrm>
          <a:prstGeom prst="rect">
            <a:avLst/>
          </a:prstGeom>
          <a:noFill/>
          <a:ln/>
        </p:spPr>
        <p:txBody>
          <a:bodyPr wrap="square" lIns="0" tIns="0" rIns="0" bIns="0" rtlCol="0" anchor="ctr">
            <a:normAutofit/>
          </a:bodyPr>
          <a:lstStyle/>
          <a:p>
            <a:pPr indent="0" marL="0">
              <a:buNone/>
            </a:pPr>
            <a:r>
              <a:rPr lang="en-US" sz="720" dirty="0">
                <a:solidFill>
                  <a:srgbClr val="475569"/>
                </a:solidFill>
              </a:rPr>
              <a:t>Lineage, freshness, reconciliation, access</a:t>
            </a:r>
            <a:endParaRPr lang="en-US" sz="720" dirty="0"/>
          </a:p>
        </p:txBody>
      </p:sp>
      <p:sp>
        <p:nvSpPr>
          <p:cNvPr id="79" name="Text 77"/>
          <p:cNvSpPr/>
          <p:nvPr/>
        </p:nvSpPr>
        <p:spPr>
          <a:xfrm>
            <a:off x="6483096" y="5532120"/>
            <a:ext cx="411480" cy="137160"/>
          </a:xfrm>
          <a:prstGeom prst="rect">
            <a:avLst/>
          </a:prstGeom>
          <a:noFill/>
          <a:ln/>
        </p:spPr>
        <p:txBody>
          <a:bodyPr wrap="square" lIns="0" tIns="0" rIns="0" bIns="0" rtlCol="0" anchor="ctr"/>
          <a:lstStyle/>
          <a:p>
            <a:pPr indent="0" marL="0">
              <a:buNone/>
            </a:pPr>
            <a:r>
              <a:rPr lang="en-US" sz="580" b="1" dirty="0">
                <a:solidFill>
                  <a:srgbClr val="2563EB"/>
                </a:solidFill>
              </a:rPr>
              <a:t>KPIs</a:t>
            </a:r>
            <a:endParaRPr lang="en-US" sz="580" dirty="0"/>
          </a:p>
        </p:txBody>
      </p:sp>
      <p:sp>
        <p:nvSpPr>
          <p:cNvPr id="80" name="Text 78"/>
          <p:cNvSpPr/>
          <p:nvPr/>
        </p:nvSpPr>
        <p:spPr>
          <a:xfrm>
            <a:off x="6483096" y="5678424"/>
            <a:ext cx="2258568" cy="256032"/>
          </a:xfrm>
          <a:prstGeom prst="rect">
            <a:avLst/>
          </a:prstGeom>
          <a:noFill/>
          <a:ln/>
        </p:spPr>
        <p:txBody>
          <a:bodyPr wrap="square" lIns="0" tIns="0" rIns="0" bIns="0" rtlCol="0" anchor="ctr">
            <a:normAutofit/>
          </a:bodyPr>
          <a:lstStyle/>
          <a:p>
            <a:pPr indent="0" marL="0">
              <a:buNone/>
            </a:pPr>
            <a:r>
              <a:rPr lang="en-US" sz="720" dirty="0">
                <a:solidFill>
                  <a:srgbClr val="475569"/>
                </a:solidFill>
              </a:rPr>
              <a:t>Data freshness, quality score, report latency</a:t>
            </a:r>
            <a:endParaRPr lang="en-US" sz="72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Foundation layer: member eligibility and provider truth</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Most downstream defects start when member or provider data is wrong.</a:t>
            </a:r>
            <a:endParaRPr lang="en-US" sz="950" dirty="0"/>
          </a:p>
        </p:txBody>
      </p:sp>
      <p:sp>
        <p:nvSpPr>
          <p:cNvPr id="4" name="Shape 2"/>
          <p:cNvSpPr/>
          <p:nvPr/>
        </p:nvSpPr>
        <p:spPr>
          <a:xfrm>
            <a:off x="640080" y="1298448"/>
            <a:ext cx="5303520" cy="4251960"/>
          </a:xfrm>
          <a:prstGeom prst="roundRect">
            <a:avLst>
              <a:gd name="adj" fmla="val 2151"/>
            </a:avLst>
          </a:prstGeom>
          <a:solidFill>
            <a:srgbClr val="EAF2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804672" y="1444752"/>
            <a:ext cx="4974336" cy="274320"/>
          </a:xfrm>
          <a:prstGeom prst="rect">
            <a:avLst/>
          </a:prstGeom>
          <a:noFill/>
          <a:ln/>
        </p:spPr>
        <p:txBody>
          <a:bodyPr wrap="square" lIns="0" tIns="0" rIns="0" bIns="0" rtlCol="0" anchor="ctr">
            <a:normAutofit/>
          </a:bodyPr>
          <a:lstStyle/>
          <a:p>
            <a:pPr indent="0" marL="0">
              <a:buNone/>
            </a:pPr>
            <a:r>
              <a:rPr lang="en-US" sz="1300" b="1" dirty="0">
                <a:solidFill>
                  <a:srgbClr val="13233A"/>
                </a:solidFill>
              </a:rPr>
              <a:t>1. Member Eligibility &amp; Enrollment</a:t>
            </a:r>
            <a:endParaRPr lang="en-US" sz="1300" dirty="0"/>
          </a:p>
        </p:txBody>
      </p:sp>
      <p:sp>
        <p:nvSpPr>
          <p:cNvPr id="6" name="Text 4"/>
          <p:cNvSpPr/>
          <p:nvPr/>
        </p:nvSpPr>
        <p:spPr>
          <a:xfrm>
            <a:off x="804672" y="1764792"/>
            <a:ext cx="4974336" cy="201168"/>
          </a:xfrm>
          <a:prstGeom prst="rect">
            <a:avLst/>
          </a:prstGeom>
          <a:noFill/>
          <a:ln/>
        </p:spPr>
        <p:txBody>
          <a:bodyPr wrap="square" lIns="0" tIns="0" rIns="0" bIns="0" rtlCol="0" anchor="ctr">
            <a:normAutofit/>
          </a:bodyPr>
          <a:lstStyle/>
          <a:p>
            <a:pPr indent="0" marL="0">
              <a:buNone/>
            </a:pPr>
            <a:r>
              <a:rPr lang="en-US" sz="740" b="1" dirty="0">
                <a:solidFill>
                  <a:srgbClr val="2563EB"/>
                </a:solidFill>
              </a:rPr>
              <a:t>834 ingestion · 270/271 validation</a:t>
            </a:r>
            <a:endParaRPr lang="en-US" sz="740" dirty="0"/>
          </a:p>
        </p:txBody>
      </p:sp>
      <p:sp>
        <p:nvSpPr>
          <p:cNvPr id="7" name="Text 5"/>
          <p:cNvSpPr/>
          <p:nvPr/>
        </p:nvSpPr>
        <p:spPr>
          <a:xfrm>
            <a:off x="841248" y="2084832"/>
            <a:ext cx="4919472" cy="3337560"/>
          </a:xfrm>
          <a:prstGeom prst="rect">
            <a:avLst/>
          </a:prstGeom>
          <a:noFill/>
          <a:ln/>
        </p:spPr>
        <p:txBody>
          <a:bodyPr wrap="square" lIns="381" tIns="381" rIns="381" bIns="381" rtlCol="0" anchor="t">
            <a:normAutofit/>
          </a:bodyPr>
          <a:lstStyle/>
          <a:p>
            <a:pPr indent="0" marL="0">
              <a:buNone/>
            </a:pPr>
            <a:r>
              <a:rPr lang="en-US" sz="820" dirty="0">
                <a:solidFill>
                  <a:srgbClr val="475569"/>
                </a:solidFill>
              </a:rPr>
              <a:t>• Ingest enrollment from employers, states, marketplaces or internal admin systems
</a:t>
            </a:r>
            <a:pPr indent="0" marL="0">
              <a:buNone/>
            </a:pPr>
            <a:r>
              <a:rPr lang="en-US" sz="820" dirty="0">
                <a:solidFill>
                  <a:srgbClr val="475569"/>
                </a:solidFill>
              </a:rPr>
              <a:t>• Resolve member identity, coverage dates, plan benefits and dependents
</a:t>
            </a:r>
            <a:pPr indent="0" marL="0">
              <a:buNone/>
            </a:pPr>
            <a:r>
              <a:rPr lang="en-US" sz="820" dirty="0">
                <a:solidFill>
                  <a:srgbClr val="475569"/>
                </a:solidFill>
              </a:rPr>
              <a:t>• Expose eligibility to portals, claims, UM, pharmacy and service teams
</a:t>
            </a:r>
            <a:pPr indent="0" marL="0">
              <a:buNone/>
            </a:pPr>
            <a:r>
              <a:rPr lang="en-US" sz="820" dirty="0">
                <a:solidFill>
                  <a:srgbClr val="475569"/>
                </a:solidFill>
              </a:rPr>
              <a:t>• Product concern: retroactive changes, duplicate records and eligibility latency
</a:t>
            </a:r>
            <a:pPr indent="0" marL="0">
              <a:buNone/>
            </a:pPr>
            <a:r>
              <a:rPr lang="en-US" sz="820" dirty="0">
                <a:solidFill>
                  <a:srgbClr val="475569"/>
                </a:solidFill>
              </a:rPr>
              <a:t>• KPIs: 834 rejection %, 270 response time, eligibility accuracy, defect-driven denials</a:t>
            </a:r>
            <a:endParaRPr lang="en-US" sz="820" dirty="0"/>
          </a:p>
        </p:txBody>
      </p:sp>
      <p:sp>
        <p:nvSpPr>
          <p:cNvPr id="8" name="Shape 6"/>
          <p:cNvSpPr/>
          <p:nvPr/>
        </p:nvSpPr>
        <p:spPr>
          <a:xfrm>
            <a:off x="6236208" y="1298448"/>
            <a:ext cx="5303520" cy="4251960"/>
          </a:xfrm>
          <a:prstGeom prst="roundRect">
            <a:avLst>
              <a:gd name="adj" fmla="val 2151"/>
            </a:avLst>
          </a:prstGeom>
          <a:solidFill>
            <a:srgbClr val="E9F7F5"/>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9" name="Text 7"/>
          <p:cNvSpPr/>
          <p:nvPr/>
        </p:nvSpPr>
        <p:spPr>
          <a:xfrm>
            <a:off x="6400800" y="1444752"/>
            <a:ext cx="4974336" cy="274320"/>
          </a:xfrm>
          <a:prstGeom prst="rect">
            <a:avLst/>
          </a:prstGeom>
          <a:noFill/>
          <a:ln/>
        </p:spPr>
        <p:txBody>
          <a:bodyPr wrap="square" lIns="0" tIns="0" rIns="0" bIns="0" rtlCol="0" anchor="ctr">
            <a:normAutofit/>
          </a:bodyPr>
          <a:lstStyle/>
          <a:p>
            <a:pPr indent="0" marL="0">
              <a:buNone/>
            </a:pPr>
            <a:r>
              <a:rPr lang="en-US" sz="1300" b="1" dirty="0">
                <a:solidFill>
                  <a:srgbClr val="13233A"/>
                </a:solidFill>
              </a:rPr>
              <a:t>4. Provider Management &amp; Credentialing</a:t>
            </a:r>
            <a:endParaRPr lang="en-US" sz="1300" dirty="0"/>
          </a:p>
        </p:txBody>
      </p:sp>
      <p:sp>
        <p:nvSpPr>
          <p:cNvPr id="10" name="Text 8"/>
          <p:cNvSpPr/>
          <p:nvPr/>
        </p:nvSpPr>
        <p:spPr>
          <a:xfrm>
            <a:off x="6400800" y="1764792"/>
            <a:ext cx="4974336" cy="201168"/>
          </a:xfrm>
          <a:prstGeom prst="rect">
            <a:avLst/>
          </a:prstGeom>
          <a:noFill/>
          <a:ln/>
        </p:spPr>
        <p:txBody>
          <a:bodyPr wrap="square" lIns="0" tIns="0" rIns="0" bIns="0" rtlCol="0" anchor="ctr">
            <a:normAutofit/>
          </a:bodyPr>
          <a:lstStyle/>
          <a:p>
            <a:pPr indent="0" marL="0">
              <a:buNone/>
            </a:pPr>
            <a:r>
              <a:rPr lang="en-US" sz="740" b="1" dirty="0">
                <a:solidFill>
                  <a:srgbClr val="0F766E"/>
                </a:solidFill>
              </a:rPr>
              <a:t>Network accuracy · credentialing · contracts</a:t>
            </a:r>
            <a:endParaRPr lang="en-US" sz="740" dirty="0"/>
          </a:p>
        </p:txBody>
      </p:sp>
      <p:sp>
        <p:nvSpPr>
          <p:cNvPr id="11" name="Text 9"/>
          <p:cNvSpPr/>
          <p:nvPr/>
        </p:nvSpPr>
        <p:spPr>
          <a:xfrm>
            <a:off x="6437376" y="2084832"/>
            <a:ext cx="4919472" cy="3337560"/>
          </a:xfrm>
          <a:prstGeom prst="rect">
            <a:avLst/>
          </a:prstGeom>
          <a:noFill/>
          <a:ln/>
        </p:spPr>
        <p:txBody>
          <a:bodyPr wrap="square" lIns="381" tIns="381" rIns="381" bIns="381" rtlCol="0" anchor="t">
            <a:normAutofit/>
          </a:bodyPr>
          <a:lstStyle/>
          <a:p>
            <a:pPr indent="0" marL="0">
              <a:buNone/>
            </a:pPr>
            <a:r>
              <a:rPr lang="en-US" sz="820" dirty="0">
                <a:solidFill>
                  <a:srgbClr val="475569"/>
                </a:solidFill>
              </a:rPr>
              <a:t>• Maintain provider identity, NPI, TIN, specialty, locations and network status
</a:t>
            </a:r>
            <a:pPr indent="0" marL="0">
              <a:buNone/>
            </a:pPr>
            <a:r>
              <a:rPr lang="en-US" sz="820" dirty="0">
                <a:solidFill>
                  <a:srgbClr val="475569"/>
                </a:solidFill>
              </a:rPr>
              <a:t>• Verify licenses, sanctions, certifications, affiliations and recredentialing dates
</a:t>
            </a:r>
            <a:pPr indent="0" marL="0">
              <a:buNone/>
            </a:pPr>
            <a:r>
              <a:rPr lang="en-US" sz="820" dirty="0">
                <a:solidFill>
                  <a:srgbClr val="475569"/>
                </a:solidFill>
              </a:rPr>
              <a:t>• Feed provider directory, claims pricing, referrals and authorization workflows
</a:t>
            </a:r>
            <a:pPr indent="0" marL="0">
              <a:buNone/>
            </a:pPr>
            <a:r>
              <a:rPr lang="en-US" sz="820" dirty="0">
                <a:solidFill>
                  <a:srgbClr val="475569"/>
                </a:solidFill>
              </a:rPr>
              <a:t>• Product concern: directory accuracy, contract synchronization and provider onboarding time
</a:t>
            </a:r>
            <a:pPr indent="0" marL="0">
              <a:buNone/>
            </a:pPr>
            <a:r>
              <a:rPr lang="en-US" sz="820" dirty="0">
                <a:solidFill>
                  <a:srgbClr val="475569"/>
                </a:solidFill>
              </a:rPr>
              <a:t>• KPIs: credentialing turnaround, provider-data accuracy, claims impacted by provider defects</a:t>
            </a:r>
            <a:endParaRPr lang="en-US" sz="820" dirty="0"/>
          </a:p>
        </p:txBody>
      </p:sp>
      <p:sp>
        <p:nvSpPr>
          <p:cNvPr id="12" name="Text 10"/>
          <p:cNvSpPr/>
          <p:nvPr/>
        </p:nvSpPr>
        <p:spPr>
          <a:xfrm>
            <a:off x="786384" y="5897880"/>
            <a:ext cx="1325880" cy="210312"/>
          </a:xfrm>
          <a:prstGeom prst="rect">
            <a:avLst/>
          </a:prstGeom>
          <a:noFill/>
          <a:ln/>
        </p:spPr>
        <p:txBody>
          <a:bodyPr wrap="square" lIns="0" tIns="0" rIns="0" bIns="0" rtlCol="0" anchor="ctr"/>
          <a:lstStyle/>
          <a:p>
            <a:pPr indent="0" marL="0">
              <a:buNone/>
            </a:pPr>
            <a:r>
              <a:rPr lang="en-US" sz="900" b="1" dirty="0">
                <a:solidFill>
                  <a:srgbClr val="13233A"/>
                </a:solidFill>
              </a:rPr>
              <a:t>Executive framing</a:t>
            </a:r>
            <a:endParaRPr lang="en-US" sz="900" dirty="0"/>
          </a:p>
        </p:txBody>
      </p:sp>
      <p:sp>
        <p:nvSpPr>
          <p:cNvPr id="13" name="Text 11"/>
          <p:cNvSpPr/>
          <p:nvPr/>
        </p:nvSpPr>
        <p:spPr>
          <a:xfrm>
            <a:off x="2331720" y="5879592"/>
            <a:ext cx="8778240" cy="228600"/>
          </a:xfrm>
          <a:prstGeom prst="rect">
            <a:avLst/>
          </a:prstGeom>
          <a:noFill/>
          <a:ln/>
        </p:spPr>
        <p:txBody>
          <a:bodyPr wrap="square" lIns="0" tIns="0" rIns="0" bIns="0" rtlCol="0" anchor="ctr">
            <a:normAutofit/>
          </a:bodyPr>
          <a:lstStyle/>
          <a:p>
            <a:pPr indent="0" marL="0">
              <a:buNone/>
            </a:pPr>
            <a:r>
              <a:rPr lang="en-US" sz="1030" dirty="0">
                <a:solidFill>
                  <a:srgbClr val="475569"/>
                </a:solidFill>
              </a:rPr>
              <a:t>If member and provider master data are unreliable, claims, authorizations, directories, care gaps and reporting all become unstable.</a:t>
            </a:r>
            <a:endParaRPr lang="en-US" sz="103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Clinical operations layer: events, authorization, appeals and care</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The goal is to make clinical work visible, prioritized, and compliant.</a:t>
            </a:r>
            <a:endParaRPr lang="en-US" sz="950" dirty="0"/>
          </a:p>
        </p:txBody>
      </p:sp>
      <p:sp>
        <p:nvSpPr>
          <p:cNvPr id="4" name="Shape 2"/>
          <p:cNvSpPr/>
          <p:nvPr/>
        </p:nvSpPr>
        <p:spPr>
          <a:xfrm>
            <a:off x="658368" y="1298448"/>
            <a:ext cx="5257800" cy="1883664"/>
          </a:xfrm>
          <a:prstGeom prst="roundRect">
            <a:avLst>
              <a:gd name="adj" fmla="val 4854"/>
            </a:avLst>
          </a:prstGeom>
          <a:solidFill>
            <a:srgbClr val="F3EDFF"/>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822960" y="1463040"/>
            <a:ext cx="4754880" cy="292608"/>
          </a:xfrm>
          <a:prstGeom prst="rect">
            <a:avLst/>
          </a:prstGeom>
          <a:noFill/>
          <a:ln/>
        </p:spPr>
        <p:txBody>
          <a:bodyPr wrap="square" lIns="0" tIns="0" rIns="0" bIns="0" rtlCol="0" anchor="ctr">
            <a:normAutofit/>
          </a:bodyPr>
          <a:lstStyle/>
          <a:p>
            <a:pPr indent="0" marL="0">
              <a:buNone/>
            </a:pPr>
            <a:r>
              <a:rPr lang="en-US" sz="1280" b="1" dirty="0">
                <a:solidFill>
                  <a:srgbClr val="13233A"/>
                </a:solidFill>
              </a:rPr>
              <a:t>3. HL7 v2.x ADT Interoperability</a:t>
            </a:r>
            <a:endParaRPr lang="en-US" sz="1280" dirty="0"/>
          </a:p>
        </p:txBody>
      </p:sp>
      <p:sp>
        <p:nvSpPr>
          <p:cNvPr id="6" name="Text 4"/>
          <p:cNvSpPr/>
          <p:nvPr/>
        </p:nvSpPr>
        <p:spPr>
          <a:xfrm>
            <a:off x="822960" y="1828800"/>
            <a:ext cx="4754880" cy="274320"/>
          </a:xfrm>
          <a:prstGeom prst="rect">
            <a:avLst/>
          </a:prstGeom>
          <a:noFill/>
          <a:ln/>
        </p:spPr>
        <p:txBody>
          <a:bodyPr wrap="square" lIns="0" tIns="0" rIns="0" bIns="0" rtlCol="0" anchor="ctr">
            <a:normAutofit/>
          </a:bodyPr>
          <a:lstStyle/>
          <a:p>
            <a:pPr indent="0" marL="0">
              <a:buNone/>
            </a:pPr>
            <a:r>
              <a:rPr lang="en-US" sz="850" dirty="0">
                <a:solidFill>
                  <a:srgbClr val="475569"/>
                </a:solidFill>
              </a:rPr>
              <a:t>Real-time admission, discharge and transfer events to trigger care workflows.</a:t>
            </a:r>
            <a:endParaRPr lang="en-US" sz="850" dirty="0"/>
          </a:p>
        </p:txBody>
      </p:sp>
      <p:sp>
        <p:nvSpPr>
          <p:cNvPr id="7" name="Text 5"/>
          <p:cNvSpPr/>
          <p:nvPr/>
        </p:nvSpPr>
        <p:spPr>
          <a:xfrm>
            <a:off x="822960" y="2231136"/>
            <a:ext cx="1298448" cy="146304"/>
          </a:xfrm>
          <a:prstGeom prst="rect">
            <a:avLst/>
          </a:prstGeom>
          <a:noFill/>
          <a:ln/>
        </p:spPr>
        <p:txBody>
          <a:bodyPr wrap="square" lIns="0" tIns="0" rIns="0" bIns="0" rtlCol="0" anchor="ctr"/>
          <a:lstStyle/>
          <a:p>
            <a:pPr indent="0" marL="0">
              <a:buNone/>
            </a:pPr>
            <a:r>
              <a:rPr lang="en-US" sz="640" b="1" dirty="0">
                <a:solidFill>
                  <a:srgbClr val="7C3AED"/>
                </a:solidFill>
              </a:rPr>
              <a:t>Product concerns</a:t>
            </a:r>
            <a:endParaRPr lang="en-US" sz="640" dirty="0"/>
          </a:p>
        </p:txBody>
      </p:sp>
      <p:sp>
        <p:nvSpPr>
          <p:cNvPr id="8" name="Text 6"/>
          <p:cNvSpPr/>
          <p:nvPr/>
        </p:nvSpPr>
        <p:spPr>
          <a:xfrm>
            <a:off x="822960" y="2432304"/>
            <a:ext cx="2331720"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Message reliability · Member matching · Event timeliness</a:t>
            </a:r>
            <a:endParaRPr lang="en-US" sz="760" dirty="0"/>
          </a:p>
        </p:txBody>
      </p:sp>
      <p:sp>
        <p:nvSpPr>
          <p:cNvPr id="9" name="Text 7"/>
          <p:cNvSpPr/>
          <p:nvPr/>
        </p:nvSpPr>
        <p:spPr>
          <a:xfrm>
            <a:off x="3474720" y="2231136"/>
            <a:ext cx="502920" cy="146304"/>
          </a:xfrm>
          <a:prstGeom prst="rect">
            <a:avLst/>
          </a:prstGeom>
          <a:noFill/>
          <a:ln/>
        </p:spPr>
        <p:txBody>
          <a:bodyPr wrap="square" lIns="0" tIns="0" rIns="0" bIns="0" rtlCol="0" anchor="ctr"/>
          <a:lstStyle/>
          <a:p>
            <a:pPr indent="0" marL="0">
              <a:buNone/>
            </a:pPr>
            <a:r>
              <a:rPr lang="en-US" sz="640" b="1" dirty="0">
                <a:solidFill>
                  <a:srgbClr val="7C3AED"/>
                </a:solidFill>
              </a:rPr>
              <a:t>KPIs</a:t>
            </a:r>
            <a:endParaRPr lang="en-US" sz="640" dirty="0"/>
          </a:p>
        </p:txBody>
      </p:sp>
      <p:sp>
        <p:nvSpPr>
          <p:cNvPr id="10" name="Text 8"/>
          <p:cNvSpPr/>
          <p:nvPr/>
        </p:nvSpPr>
        <p:spPr>
          <a:xfrm>
            <a:off x="3474720" y="2432304"/>
            <a:ext cx="2048256"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Event success % · Match rate · Outreach latency</a:t>
            </a:r>
            <a:endParaRPr lang="en-US" sz="760" dirty="0"/>
          </a:p>
        </p:txBody>
      </p:sp>
      <p:sp>
        <p:nvSpPr>
          <p:cNvPr id="11" name="Shape 9"/>
          <p:cNvSpPr/>
          <p:nvPr/>
        </p:nvSpPr>
        <p:spPr>
          <a:xfrm>
            <a:off x="6263640" y="1298448"/>
            <a:ext cx="5257800" cy="1883664"/>
          </a:xfrm>
          <a:prstGeom prst="roundRect">
            <a:avLst>
              <a:gd name="adj" fmla="val 4854"/>
            </a:avLst>
          </a:prstGeom>
          <a:solidFill>
            <a:srgbClr val="F3EDFF"/>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12" name="Text 10"/>
          <p:cNvSpPr/>
          <p:nvPr/>
        </p:nvSpPr>
        <p:spPr>
          <a:xfrm>
            <a:off x="6428232" y="1463040"/>
            <a:ext cx="4754880" cy="292608"/>
          </a:xfrm>
          <a:prstGeom prst="rect">
            <a:avLst/>
          </a:prstGeom>
          <a:noFill/>
          <a:ln/>
        </p:spPr>
        <p:txBody>
          <a:bodyPr wrap="square" lIns="0" tIns="0" rIns="0" bIns="0" rtlCol="0" anchor="ctr">
            <a:normAutofit/>
          </a:bodyPr>
          <a:lstStyle/>
          <a:p>
            <a:pPr indent="0" marL="0">
              <a:buNone/>
            </a:pPr>
            <a:r>
              <a:rPr lang="en-US" sz="1280" b="1" dirty="0">
                <a:solidFill>
                  <a:srgbClr val="13233A"/>
                </a:solidFill>
              </a:rPr>
              <a:t>5. Utilization Mgmt &amp; Prior Authorization</a:t>
            </a:r>
            <a:endParaRPr lang="en-US" sz="1280" dirty="0"/>
          </a:p>
        </p:txBody>
      </p:sp>
      <p:sp>
        <p:nvSpPr>
          <p:cNvPr id="13" name="Text 11"/>
          <p:cNvSpPr/>
          <p:nvPr/>
        </p:nvSpPr>
        <p:spPr>
          <a:xfrm>
            <a:off x="6428232" y="1828800"/>
            <a:ext cx="4754880" cy="274320"/>
          </a:xfrm>
          <a:prstGeom prst="rect">
            <a:avLst/>
          </a:prstGeom>
          <a:noFill/>
          <a:ln/>
        </p:spPr>
        <p:txBody>
          <a:bodyPr wrap="square" lIns="0" tIns="0" rIns="0" bIns="0" rtlCol="0" anchor="ctr">
            <a:normAutofit/>
          </a:bodyPr>
          <a:lstStyle/>
          <a:p>
            <a:pPr indent="0" marL="0">
              <a:buNone/>
            </a:pPr>
            <a:r>
              <a:rPr lang="en-US" sz="850" dirty="0">
                <a:solidFill>
                  <a:srgbClr val="475569"/>
                </a:solidFill>
              </a:rPr>
              <a:t>Validates coverage, medical necessity and policy before services are delivered.</a:t>
            </a:r>
            <a:endParaRPr lang="en-US" sz="850" dirty="0"/>
          </a:p>
        </p:txBody>
      </p:sp>
      <p:sp>
        <p:nvSpPr>
          <p:cNvPr id="14" name="Text 12"/>
          <p:cNvSpPr/>
          <p:nvPr/>
        </p:nvSpPr>
        <p:spPr>
          <a:xfrm>
            <a:off x="6428232" y="2231136"/>
            <a:ext cx="1298448" cy="146304"/>
          </a:xfrm>
          <a:prstGeom prst="rect">
            <a:avLst/>
          </a:prstGeom>
          <a:noFill/>
          <a:ln/>
        </p:spPr>
        <p:txBody>
          <a:bodyPr wrap="square" lIns="0" tIns="0" rIns="0" bIns="0" rtlCol="0" anchor="ctr"/>
          <a:lstStyle/>
          <a:p>
            <a:pPr indent="0" marL="0">
              <a:buNone/>
            </a:pPr>
            <a:r>
              <a:rPr lang="en-US" sz="640" b="1" dirty="0">
                <a:solidFill>
                  <a:srgbClr val="7C3AED"/>
                </a:solidFill>
              </a:rPr>
              <a:t>Product concerns</a:t>
            </a:r>
            <a:endParaRPr lang="en-US" sz="640" dirty="0"/>
          </a:p>
        </p:txBody>
      </p:sp>
      <p:sp>
        <p:nvSpPr>
          <p:cNvPr id="15" name="Text 13"/>
          <p:cNvSpPr/>
          <p:nvPr/>
        </p:nvSpPr>
        <p:spPr>
          <a:xfrm>
            <a:off x="6428232" y="2432304"/>
            <a:ext cx="2331720"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Clinical policy accuracy · Reviewer workload · TAT compliance</a:t>
            </a:r>
            <a:endParaRPr lang="en-US" sz="760" dirty="0"/>
          </a:p>
        </p:txBody>
      </p:sp>
      <p:sp>
        <p:nvSpPr>
          <p:cNvPr id="16" name="Text 14"/>
          <p:cNvSpPr/>
          <p:nvPr/>
        </p:nvSpPr>
        <p:spPr>
          <a:xfrm>
            <a:off x="9079992" y="2231136"/>
            <a:ext cx="502920" cy="146304"/>
          </a:xfrm>
          <a:prstGeom prst="rect">
            <a:avLst/>
          </a:prstGeom>
          <a:noFill/>
          <a:ln/>
        </p:spPr>
        <p:txBody>
          <a:bodyPr wrap="square" lIns="0" tIns="0" rIns="0" bIns="0" rtlCol="0" anchor="ctr"/>
          <a:lstStyle/>
          <a:p>
            <a:pPr indent="0" marL="0">
              <a:buNone/>
            </a:pPr>
            <a:r>
              <a:rPr lang="en-US" sz="640" b="1" dirty="0">
                <a:solidFill>
                  <a:srgbClr val="7C3AED"/>
                </a:solidFill>
              </a:rPr>
              <a:t>KPIs</a:t>
            </a:r>
            <a:endParaRPr lang="en-US" sz="640" dirty="0"/>
          </a:p>
        </p:txBody>
      </p:sp>
      <p:sp>
        <p:nvSpPr>
          <p:cNvPr id="17" name="Text 15"/>
          <p:cNvSpPr/>
          <p:nvPr/>
        </p:nvSpPr>
        <p:spPr>
          <a:xfrm>
            <a:off x="9079992" y="2432304"/>
            <a:ext cx="2048256"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Auto-approval % · Authorization TAT · Overturn rate</a:t>
            </a:r>
            <a:endParaRPr lang="en-US" sz="760" dirty="0"/>
          </a:p>
        </p:txBody>
      </p:sp>
      <p:sp>
        <p:nvSpPr>
          <p:cNvPr id="18" name="Shape 16"/>
          <p:cNvSpPr/>
          <p:nvPr/>
        </p:nvSpPr>
        <p:spPr>
          <a:xfrm>
            <a:off x="658368" y="3822192"/>
            <a:ext cx="5257800" cy="1883664"/>
          </a:xfrm>
          <a:prstGeom prst="roundRect">
            <a:avLst>
              <a:gd name="adj" fmla="val 4854"/>
            </a:avLst>
          </a:prstGeom>
          <a:solidFill>
            <a:srgbClr val="FDECEC"/>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19" name="Text 17"/>
          <p:cNvSpPr/>
          <p:nvPr/>
        </p:nvSpPr>
        <p:spPr>
          <a:xfrm>
            <a:off x="822960" y="3986784"/>
            <a:ext cx="4754880" cy="292608"/>
          </a:xfrm>
          <a:prstGeom prst="rect">
            <a:avLst/>
          </a:prstGeom>
          <a:noFill/>
          <a:ln/>
        </p:spPr>
        <p:txBody>
          <a:bodyPr wrap="square" lIns="0" tIns="0" rIns="0" bIns="0" rtlCol="0" anchor="ctr">
            <a:normAutofit/>
          </a:bodyPr>
          <a:lstStyle/>
          <a:p>
            <a:pPr indent="0" marL="0">
              <a:buNone/>
            </a:pPr>
            <a:r>
              <a:rPr lang="en-US" sz="1280" b="1" dirty="0">
                <a:solidFill>
                  <a:srgbClr val="13233A"/>
                </a:solidFill>
              </a:rPr>
              <a:t>6. Appeals &amp; Grievances</a:t>
            </a:r>
            <a:endParaRPr lang="en-US" sz="1280" dirty="0"/>
          </a:p>
        </p:txBody>
      </p:sp>
      <p:sp>
        <p:nvSpPr>
          <p:cNvPr id="20" name="Text 18"/>
          <p:cNvSpPr/>
          <p:nvPr/>
        </p:nvSpPr>
        <p:spPr>
          <a:xfrm>
            <a:off x="822960" y="4352544"/>
            <a:ext cx="4754880" cy="274320"/>
          </a:xfrm>
          <a:prstGeom prst="rect">
            <a:avLst/>
          </a:prstGeom>
          <a:noFill/>
          <a:ln/>
        </p:spPr>
        <p:txBody>
          <a:bodyPr wrap="square" lIns="0" tIns="0" rIns="0" bIns="0" rtlCol="0" anchor="ctr">
            <a:normAutofit/>
          </a:bodyPr>
          <a:lstStyle/>
          <a:p>
            <a:pPr indent="0" marL="0">
              <a:buNone/>
            </a:pPr>
            <a:r>
              <a:rPr lang="en-US" sz="850" dirty="0">
                <a:solidFill>
                  <a:srgbClr val="475569"/>
                </a:solidFill>
              </a:rPr>
              <a:t>Manages disputes, dissatisfaction, evidence review and regulatory deadlines.</a:t>
            </a:r>
            <a:endParaRPr lang="en-US" sz="850" dirty="0"/>
          </a:p>
        </p:txBody>
      </p:sp>
      <p:sp>
        <p:nvSpPr>
          <p:cNvPr id="21" name="Text 19"/>
          <p:cNvSpPr/>
          <p:nvPr/>
        </p:nvSpPr>
        <p:spPr>
          <a:xfrm>
            <a:off x="822960" y="4754880"/>
            <a:ext cx="1298448" cy="146304"/>
          </a:xfrm>
          <a:prstGeom prst="rect">
            <a:avLst/>
          </a:prstGeom>
          <a:noFill/>
          <a:ln/>
        </p:spPr>
        <p:txBody>
          <a:bodyPr wrap="square" lIns="0" tIns="0" rIns="0" bIns="0" rtlCol="0" anchor="ctr"/>
          <a:lstStyle/>
          <a:p>
            <a:pPr indent="0" marL="0">
              <a:buNone/>
            </a:pPr>
            <a:r>
              <a:rPr lang="en-US" sz="640" b="1" dirty="0">
                <a:solidFill>
                  <a:srgbClr val="DC2626"/>
                </a:solidFill>
              </a:rPr>
              <a:t>Product concerns</a:t>
            </a:r>
            <a:endParaRPr lang="en-US" sz="640" dirty="0"/>
          </a:p>
        </p:txBody>
      </p:sp>
      <p:sp>
        <p:nvSpPr>
          <p:cNvPr id="22" name="Text 20"/>
          <p:cNvSpPr/>
          <p:nvPr/>
        </p:nvSpPr>
        <p:spPr>
          <a:xfrm>
            <a:off x="822960" y="4956048"/>
            <a:ext cx="2331720"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SLA deadlines · Evidence traceability · Independent review</a:t>
            </a:r>
            <a:endParaRPr lang="en-US" sz="760" dirty="0"/>
          </a:p>
        </p:txBody>
      </p:sp>
      <p:sp>
        <p:nvSpPr>
          <p:cNvPr id="23" name="Text 21"/>
          <p:cNvSpPr/>
          <p:nvPr/>
        </p:nvSpPr>
        <p:spPr>
          <a:xfrm>
            <a:off x="3474720" y="4754880"/>
            <a:ext cx="502920" cy="146304"/>
          </a:xfrm>
          <a:prstGeom prst="rect">
            <a:avLst/>
          </a:prstGeom>
          <a:noFill/>
          <a:ln/>
        </p:spPr>
        <p:txBody>
          <a:bodyPr wrap="square" lIns="0" tIns="0" rIns="0" bIns="0" rtlCol="0" anchor="ctr"/>
          <a:lstStyle/>
          <a:p>
            <a:pPr indent="0" marL="0">
              <a:buNone/>
            </a:pPr>
            <a:r>
              <a:rPr lang="en-US" sz="640" b="1" dirty="0">
                <a:solidFill>
                  <a:srgbClr val="DC2626"/>
                </a:solidFill>
              </a:rPr>
              <a:t>KPIs</a:t>
            </a:r>
            <a:endParaRPr lang="en-US" sz="640" dirty="0"/>
          </a:p>
        </p:txBody>
      </p:sp>
      <p:sp>
        <p:nvSpPr>
          <p:cNvPr id="24" name="Text 22"/>
          <p:cNvSpPr/>
          <p:nvPr/>
        </p:nvSpPr>
        <p:spPr>
          <a:xfrm>
            <a:off x="3474720" y="4956048"/>
            <a:ext cx="2048256"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SLA compliance · Resolution time · Overturn %</a:t>
            </a:r>
            <a:endParaRPr lang="en-US" sz="760" dirty="0"/>
          </a:p>
        </p:txBody>
      </p:sp>
      <p:sp>
        <p:nvSpPr>
          <p:cNvPr id="25" name="Shape 23"/>
          <p:cNvSpPr/>
          <p:nvPr/>
        </p:nvSpPr>
        <p:spPr>
          <a:xfrm>
            <a:off x="6263640" y="3822192"/>
            <a:ext cx="5257800" cy="1883664"/>
          </a:xfrm>
          <a:prstGeom prst="roundRect">
            <a:avLst>
              <a:gd name="adj" fmla="val 4854"/>
            </a:avLst>
          </a:prstGeom>
          <a:solidFill>
            <a:srgbClr val="EAF7F0"/>
          </a:solidFill>
          <a:ln w="11430">
            <a:solidFill>
              <a:srgbClr val="D7E1EE"/>
            </a:solidFill>
            <a:prstDash val="solid"/>
          </a:ln>
          <a:effectLst>
            <a:outerShdw sx="100000" sy="100000" kx="0" ky="0" algn="bl" rotWithShape="0" blurRad="12700" dist="50800" dir="2700000">
              <a:srgbClr val="CBD5E1">
                <a:alpha val="16000"/>
              </a:srgbClr>
            </a:outerShdw>
          </a:effectLst>
        </p:spPr>
      </p:sp>
      <p:sp>
        <p:nvSpPr>
          <p:cNvPr id="26" name="Text 24"/>
          <p:cNvSpPr/>
          <p:nvPr/>
        </p:nvSpPr>
        <p:spPr>
          <a:xfrm>
            <a:off x="6428232" y="3986784"/>
            <a:ext cx="4754880" cy="292608"/>
          </a:xfrm>
          <a:prstGeom prst="rect">
            <a:avLst/>
          </a:prstGeom>
          <a:noFill/>
          <a:ln/>
        </p:spPr>
        <p:txBody>
          <a:bodyPr wrap="square" lIns="0" tIns="0" rIns="0" bIns="0" rtlCol="0" anchor="ctr">
            <a:normAutofit/>
          </a:bodyPr>
          <a:lstStyle/>
          <a:p>
            <a:pPr indent="0" marL="0">
              <a:buNone/>
            </a:pPr>
            <a:r>
              <a:rPr lang="en-US" sz="1280" b="1" dirty="0">
                <a:solidFill>
                  <a:srgbClr val="13233A"/>
                </a:solidFill>
              </a:rPr>
              <a:t>7. Care Management &amp; Care Gaps</a:t>
            </a:r>
            <a:endParaRPr lang="en-US" sz="1280" dirty="0"/>
          </a:p>
        </p:txBody>
      </p:sp>
      <p:sp>
        <p:nvSpPr>
          <p:cNvPr id="27" name="Text 25"/>
          <p:cNvSpPr/>
          <p:nvPr/>
        </p:nvSpPr>
        <p:spPr>
          <a:xfrm>
            <a:off x="6428232" y="4352544"/>
            <a:ext cx="4754880" cy="274320"/>
          </a:xfrm>
          <a:prstGeom prst="rect">
            <a:avLst/>
          </a:prstGeom>
          <a:noFill/>
          <a:ln/>
        </p:spPr>
        <p:txBody>
          <a:bodyPr wrap="square" lIns="0" tIns="0" rIns="0" bIns="0" rtlCol="0" anchor="ctr">
            <a:normAutofit/>
          </a:bodyPr>
          <a:lstStyle/>
          <a:p>
            <a:pPr indent="0" marL="0">
              <a:buNone/>
            </a:pPr>
            <a:r>
              <a:rPr lang="en-US" sz="850" dirty="0">
                <a:solidFill>
                  <a:srgbClr val="475569"/>
                </a:solidFill>
              </a:rPr>
              <a:t>Turns claims, pharmacy, ADT and assessment data into interventions.</a:t>
            </a:r>
            <a:endParaRPr lang="en-US" sz="850" dirty="0"/>
          </a:p>
        </p:txBody>
      </p:sp>
      <p:sp>
        <p:nvSpPr>
          <p:cNvPr id="28" name="Text 26"/>
          <p:cNvSpPr/>
          <p:nvPr/>
        </p:nvSpPr>
        <p:spPr>
          <a:xfrm>
            <a:off x="6428232" y="4754880"/>
            <a:ext cx="1298448" cy="146304"/>
          </a:xfrm>
          <a:prstGeom prst="rect">
            <a:avLst/>
          </a:prstGeom>
          <a:noFill/>
          <a:ln/>
        </p:spPr>
        <p:txBody>
          <a:bodyPr wrap="square" lIns="0" tIns="0" rIns="0" bIns="0" rtlCol="0" anchor="ctr"/>
          <a:lstStyle/>
          <a:p>
            <a:pPr indent="0" marL="0">
              <a:buNone/>
            </a:pPr>
            <a:r>
              <a:rPr lang="en-US" sz="640" b="1" dirty="0">
                <a:solidFill>
                  <a:srgbClr val="16A34A"/>
                </a:solidFill>
              </a:rPr>
              <a:t>Product concerns</a:t>
            </a:r>
            <a:endParaRPr lang="en-US" sz="640" dirty="0"/>
          </a:p>
        </p:txBody>
      </p:sp>
      <p:sp>
        <p:nvSpPr>
          <p:cNvPr id="29" name="Text 27"/>
          <p:cNvSpPr/>
          <p:nvPr/>
        </p:nvSpPr>
        <p:spPr>
          <a:xfrm>
            <a:off x="6428232" y="4956048"/>
            <a:ext cx="2331720"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Risk-scoring quality · Alert fatigue · Closed-loop outreach</a:t>
            </a:r>
            <a:endParaRPr lang="en-US" sz="760" dirty="0"/>
          </a:p>
        </p:txBody>
      </p:sp>
      <p:sp>
        <p:nvSpPr>
          <p:cNvPr id="30" name="Text 28"/>
          <p:cNvSpPr/>
          <p:nvPr/>
        </p:nvSpPr>
        <p:spPr>
          <a:xfrm>
            <a:off x="9079992" y="4754880"/>
            <a:ext cx="502920" cy="146304"/>
          </a:xfrm>
          <a:prstGeom prst="rect">
            <a:avLst/>
          </a:prstGeom>
          <a:noFill/>
          <a:ln/>
        </p:spPr>
        <p:txBody>
          <a:bodyPr wrap="square" lIns="0" tIns="0" rIns="0" bIns="0" rtlCol="0" anchor="ctr"/>
          <a:lstStyle/>
          <a:p>
            <a:pPr indent="0" marL="0">
              <a:buNone/>
            </a:pPr>
            <a:r>
              <a:rPr lang="en-US" sz="640" b="1" dirty="0">
                <a:solidFill>
                  <a:srgbClr val="16A34A"/>
                </a:solidFill>
              </a:rPr>
              <a:t>KPIs</a:t>
            </a:r>
            <a:endParaRPr lang="en-US" sz="640" dirty="0"/>
          </a:p>
        </p:txBody>
      </p:sp>
      <p:sp>
        <p:nvSpPr>
          <p:cNvPr id="31" name="Text 29"/>
          <p:cNvSpPr/>
          <p:nvPr/>
        </p:nvSpPr>
        <p:spPr>
          <a:xfrm>
            <a:off x="9079992" y="4956048"/>
            <a:ext cx="2048256" cy="347472"/>
          </a:xfrm>
          <a:prstGeom prst="rect">
            <a:avLst/>
          </a:prstGeom>
          <a:noFill/>
          <a:ln/>
        </p:spPr>
        <p:txBody>
          <a:bodyPr wrap="square" lIns="0" tIns="0" rIns="0" bIns="0" rtlCol="0" anchor="ctr">
            <a:normAutofit/>
          </a:bodyPr>
          <a:lstStyle/>
          <a:p>
            <a:pPr indent="0" marL="0">
              <a:buNone/>
            </a:pPr>
            <a:r>
              <a:rPr lang="en-US" sz="760" dirty="0">
                <a:solidFill>
                  <a:srgbClr val="475569"/>
                </a:solidFill>
              </a:rPr>
              <a:t>Gap closure % · Readmission rate · Engagement</a:t>
            </a:r>
            <a:endParaRPr lang="en-US" sz="76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Claims and financial spine: from 837 intake to payment accuracy</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Claims is not just transaction processing; it is where policy, contracts, benefits, and finance converge.</a:t>
            </a:r>
            <a:endParaRPr lang="en-US" sz="950" dirty="0"/>
          </a:p>
        </p:txBody>
      </p:sp>
      <p:sp>
        <p:nvSpPr>
          <p:cNvPr id="4" name="Shape 2"/>
          <p:cNvSpPr/>
          <p:nvPr/>
        </p:nvSpPr>
        <p:spPr>
          <a:xfrm>
            <a:off x="731520" y="1188720"/>
            <a:ext cx="10835640" cy="1143000"/>
          </a:xfrm>
          <a:prstGeom prst="roundRect">
            <a:avLst>
              <a:gd name="adj" fmla="val 8000"/>
            </a:avLst>
          </a:prstGeom>
          <a:solidFill>
            <a:srgbClr val="FFFFFF"/>
          </a:solidFill>
          <a:ln w="11430">
            <a:solidFill>
              <a:srgbClr val="CED9E6"/>
            </a:solidFill>
            <a:prstDash val="solid"/>
          </a:ln>
          <a:effectLst>
            <a:outerShdw sx="100000" sy="100000" kx="0" ky="0" algn="bl" rotWithShape="0" blurRad="12700" dist="50800" dir="2700000">
              <a:srgbClr val="CBD5E1">
                <a:alpha val="16000"/>
              </a:srgbClr>
            </a:outerShdw>
          </a:effectLst>
        </p:spPr>
      </p:sp>
      <p:sp>
        <p:nvSpPr>
          <p:cNvPr id="5" name="Shape 3"/>
          <p:cNvSpPr/>
          <p:nvPr/>
        </p:nvSpPr>
        <p:spPr>
          <a:xfrm>
            <a:off x="896112" y="1508760"/>
            <a:ext cx="960120" cy="384048"/>
          </a:xfrm>
          <a:prstGeom prst="roundRect">
            <a:avLst>
              <a:gd name="adj" fmla="val 14286"/>
            </a:avLst>
          </a:prstGeom>
          <a:solidFill>
            <a:srgbClr val="EAF2FF"/>
          </a:solidFill>
          <a:ln w="12700">
            <a:solidFill>
              <a:srgbClr val="BFD0E5"/>
            </a:solidFill>
            <a:prstDash val="solid"/>
          </a:ln>
        </p:spPr>
      </p:sp>
      <p:sp>
        <p:nvSpPr>
          <p:cNvPr id="6" name="Text 4"/>
          <p:cNvSpPr/>
          <p:nvPr/>
        </p:nvSpPr>
        <p:spPr>
          <a:xfrm>
            <a:off x="932688"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837 Intake</a:t>
            </a:r>
            <a:endParaRPr lang="en-US" sz="680" dirty="0"/>
          </a:p>
        </p:txBody>
      </p:sp>
      <p:sp>
        <p:nvSpPr>
          <p:cNvPr id="7" name="Shape 5"/>
          <p:cNvSpPr/>
          <p:nvPr/>
        </p:nvSpPr>
        <p:spPr>
          <a:xfrm>
            <a:off x="1883664" y="1700784"/>
            <a:ext cx="301752" cy="0"/>
          </a:xfrm>
          <a:prstGeom prst="line">
            <a:avLst/>
          </a:prstGeom>
          <a:noFill/>
          <a:ln w="20320">
            <a:solidFill>
              <a:srgbClr val="9AA8BA"/>
            </a:solidFill>
            <a:prstDash val="solid"/>
            <a:headEnd type="none"/>
            <a:tailEnd type="triangle"/>
          </a:ln>
        </p:spPr>
      </p:sp>
      <p:sp>
        <p:nvSpPr>
          <p:cNvPr id="8" name="Shape 6"/>
          <p:cNvSpPr/>
          <p:nvPr/>
        </p:nvSpPr>
        <p:spPr>
          <a:xfrm>
            <a:off x="2240280" y="1508760"/>
            <a:ext cx="960120" cy="384048"/>
          </a:xfrm>
          <a:prstGeom prst="roundRect">
            <a:avLst>
              <a:gd name="adj" fmla="val 14286"/>
            </a:avLst>
          </a:prstGeom>
          <a:solidFill>
            <a:srgbClr val="FEF4E6"/>
          </a:solidFill>
          <a:ln w="12700">
            <a:solidFill>
              <a:srgbClr val="BFD0E5"/>
            </a:solidFill>
            <a:prstDash val="solid"/>
          </a:ln>
        </p:spPr>
      </p:sp>
      <p:sp>
        <p:nvSpPr>
          <p:cNvPr id="9" name="Text 7"/>
          <p:cNvSpPr/>
          <p:nvPr/>
        </p:nvSpPr>
        <p:spPr>
          <a:xfrm>
            <a:off x="2276856"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Validation</a:t>
            </a:r>
            <a:endParaRPr lang="en-US" sz="680" dirty="0"/>
          </a:p>
        </p:txBody>
      </p:sp>
      <p:sp>
        <p:nvSpPr>
          <p:cNvPr id="10" name="Shape 8"/>
          <p:cNvSpPr/>
          <p:nvPr/>
        </p:nvSpPr>
        <p:spPr>
          <a:xfrm>
            <a:off x="3227832" y="1700784"/>
            <a:ext cx="246888" cy="0"/>
          </a:xfrm>
          <a:prstGeom prst="line">
            <a:avLst/>
          </a:prstGeom>
          <a:noFill/>
          <a:ln w="20320">
            <a:solidFill>
              <a:srgbClr val="9AA8BA"/>
            </a:solidFill>
            <a:prstDash val="solid"/>
            <a:headEnd type="none"/>
            <a:tailEnd type="triangle"/>
          </a:ln>
        </p:spPr>
      </p:sp>
      <p:sp>
        <p:nvSpPr>
          <p:cNvPr id="11" name="Shape 9"/>
          <p:cNvSpPr/>
          <p:nvPr/>
        </p:nvSpPr>
        <p:spPr>
          <a:xfrm>
            <a:off x="3529584" y="1508760"/>
            <a:ext cx="960120" cy="384048"/>
          </a:xfrm>
          <a:prstGeom prst="roundRect">
            <a:avLst>
              <a:gd name="adj" fmla="val 14286"/>
            </a:avLst>
          </a:prstGeom>
          <a:solidFill>
            <a:srgbClr val="EAF2FF"/>
          </a:solidFill>
          <a:ln w="12700">
            <a:solidFill>
              <a:srgbClr val="BFD0E5"/>
            </a:solidFill>
            <a:prstDash val="solid"/>
          </a:ln>
        </p:spPr>
      </p:sp>
      <p:sp>
        <p:nvSpPr>
          <p:cNvPr id="12" name="Text 10"/>
          <p:cNvSpPr/>
          <p:nvPr/>
        </p:nvSpPr>
        <p:spPr>
          <a:xfrm>
            <a:off x="3566160"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Rules</a:t>
            </a:r>
            <a:endParaRPr lang="en-US" sz="680" dirty="0"/>
          </a:p>
        </p:txBody>
      </p:sp>
      <p:sp>
        <p:nvSpPr>
          <p:cNvPr id="13" name="Shape 11"/>
          <p:cNvSpPr/>
          <p:nvPr/>
        </p:nvSpPr>
        <p:spPr>
          <a:xfrm>
            <a:off x="4517136" y="1700784"/>
            <a:ext cx="91440" cy="0"/>
          </a:xfrm>
          <a:prstGeom prst="line">
            <a:avLst/>
          </a:prstGeom>
          <a:noFill/>
          <a:ln w="20320">
            <a:solidFill>
              <a:srgbClr val="9AA8BA"/>
            </a:solidFill>
            <a:prstDash val="solid"/>
            <a:headEnd type="none"/>
            <a:tailEnd type="triangle"/>
          </a:ln>
        </p:spPr>
      </p:sp>
      <p:sp>
        <p:nvSpPr>
          <p:cNvPr id="14" name="Shape 12"/>
          <p:cNvSpPr/>
          <p:nvPr/>
        </p:nvSpPr>
        <p:spPr>
          <a:xfrm>
            <a:off x="4663440" y="1508760"/>
            <a:ext cx="960120" cy="384048"/>
          </a:xfrm>
          <a:prstGeom prst="roundRect">
            <a:avLst>
              <a:gd name="adj" fmla="val 14286"/>
            </a:avLst>
          </a:prstGeom>
          <a:solidFill>
            <a:srgbClr val="FEF4E6"/>
          </a:solidFill>
          <a:ln w="12700">
            <a:solidFill>
              <a:srgbClr val="BFD0E5"/>
            </a:solidFill>
            <a:prstDash val="solid"/>
          </a:ln>
        </p:spPr>
      </p:sp>
      <p:sp>
        <p:nvSpPr>
          <p:cNvPr id="15" name="Text 13"/>
          <p:cNvSpPr/>
          <p:nvPr/>
        </p:nvSpPr>
        <p:spPr>
          <a:xfrm>
            <a:off x="4700016"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Pricing</a:t>
            </a:r>
            <a:endParaRPr lang="en-US" sz="680" dirty="0"/>
          </a:p>
        </p:txBody>
      </p:sp>
      <p:sp>
        <p:nvSpPr>
          <p:cNvPr id="16" name="Shape 14"/>
          <p:cNvSpPr/>
          <p:nvPr/>
        </p:nvSpPr>
        <p:spPr>
          <a:xfrm>
            <a:off x="5650992" y="1700784"/>
            <a:ext cx="100584" cy="0"/>
          </a:xfrm>
          <a:prstGeom prst="line">
            <a:avLst/>
          </a:prstGeom>
          <a:noFill/>
          <a:ln w="20320">
            <a:solidFill>
              <a:srgbClr val="9AA8BA"/>
            </a:solidFill>
            <a:prstDash val="solid"/>
            <a:headEnd type="none"/>
            <a:tailEnd type="triangle"/>
          </a:ln>
        </p:spPr>
      </p:sp>
      <p:sp>
        <p:nvSpPr>
          <p:cNvPr id="17" name="Shape 15"/>
          <p:cNvSpPr/>
          <p:nvPr/>
        </p:nvSpPr>
        <p:spPr>
          <a:xfrm>
            <a:off x="5806440" y="1508760"/>
            <a:ext cx="960120" cy="384048"/>
          </a:xfrm>
          <a:prstGeom prst="roundRect">
            <a:avLst>
              <a:gd name="adj" fmla="val 14286"/>
            </a:avLst>
          </a:prstGeom>
          <a:solidFill>
            <a:srgbClr val="EAF2FF"/>
          </a:solidFill>
          <a:ln w="12700">
            <a:solidFill>
              <a:srgbClr val="BFD0E5"/>
            </a:solidFill>
            <a:prstDash val="solid"/>
          </a:ln>
        </p:spPr>
      </p:sp>
      <p:sp>
        <p:nvSpPr>
          <p:cNvPr id="18" name="Text 16"/>
          <p:cNvSpPr/>
          <p:nvPr/>
        </p:nvSpPr>
        <p:spPr>
          <a:xfrm>
            <a:off x="5843016"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COB/TPL</a:t>
            </a:r>
            <a:endParaRPr lang="en-US" sz="680" dirty="0"/>
          </a:p>
        </p:txBody>
      </p:sp>
      <p:sp>
        <p:nvSpPr>
          <p:cNvPr id="19" name="Shape 17"/>
          <p:cNvSpPr/>
          <p:nvPr/>
        </p:nvSpPr>
        <p:spPr>
          <a:xfrm>
            <a:off x="6793992" y="1700784"/>
            <a:ext cx="164592" cy="0"/>
          </a:xfrm>
          <a:prstGeom prst="line">
            <a:avLst/>
          </a:prstGeom>
          <a:noFill/>
          <a:ln w="20320">
            <a:solidFill>
              <a:srgbClr val="9AA8BA"/>
            </a:solidFill>
            <a:prstDash val="solid"/>
            <a:headEnd type="none"/>
            <a:tailEnd type="triangle"/>
          </a:ln>
        </p:spPr>
      </p:sp>
      <p:sp>
        <p:nvSpPr>
          <p:cNvPr id="20" name="Shape 18"/>
          <p:cNvSpPr/>
          <p:nvPr/>
        </p:nvSpPr>
        <p:spPr>
          <a:xfrm>
            <a:off x="7013448" y="1508760"/>
            <a:ext cx="960120" cy="384048"/>
          </a:xfrm>
          <a:prstGeom prst="roundRect">
            <a:avLst>
              <a:gd name="adj" fmla="val 14286"/>
            </a:avLst>
          </a:prstGeom>
          <a:solidFill>
            <a:srgbClr val="FEF4E6"/>
          </a:solidFill>
          <a:ln w="12700">
            <a:solidFill>
              <a:srgbClr val="BFD0E5"/>
            </a:solidFill>
            <a:prstDash val="solid"/>
          </a:ln>
        </p:spPr>
      </p:sp>
      <p:sp>
        <p:nvSpPr>
          <p:cNvPr id="21" name="Text 19"/>
          <p:cNvSpPr/>
          <p:nvPr/>
        </p:nvSpPr>
        <p:spPr>
          <a:xfrm>
            <a:off x="7050024"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Payment</a:t>
            </a:r>
            <a:endParaRPr lang="en-US" sz="680" dirty="0"/>
          </a:p>
        </p:txBody>
      </p:sp>
      <p:sp>
        <p:nvSpPr>
          <p:cNvPr id="22" name="Shape 20"/>
          <p:cNvSpPr/>
          <p:nvPr/>
        </p:nvSpPr>
        <p:spPr>
          <a:xfrm>
            <a:off x="8001000" y="1700784"/>
            <a:ext cx="128016" cy="0"/>
          </a:xfrm>
          <a:prstGeom prst="line">
            <a:avLst/>
          </a:prstGeom>
          <a:noFill/>
          <a:ln w="20320">
            <a:solidFill>
              <a:srgbClr val="9AA8BA"/>
            </a:solidFill>
            <a:prstDash val="solid"/>
            <a:headEnd type="none"/>
            <a:tailEnd type="triangle"/>
          </a:ln>
        </p:spPr>
      </p:sp>
      <p:sp>
        <p:nvSpPr>
          <p:cNvPr id="23" name="Shape 21"/>
          <p:cNvSpPr/>
          <p:nvPr/>
        </p:nvSpPr>
        <p:spPr>
          <a:xfrm>
            <a:off x="8183880" y="1508760"/>
            <a:ext cx="960120" cy="384048"/>
          </a:xfrm>
          <a:prstGeom prst="roundRect">
            <a:avLst>
              <a:gd name="adj" fmla="val 14286"/>
            </a:avLst>
          </a:prstGeom>
          <a:solidFill>
            <a:srgbClr val="EAF2FF"/>
          </a:solidFill>
          <a:ln w="12700">
            <a:solidFill>
              <a:srgbClr val="BFD0E5"/>
            </a:solidFill>
            <a:prstDash val="solid"/>
          </a:ln>
        </p:spPr>
      </p:sp>
      <p:sp>
        <p:nvSpPr>
          <p:cNvPr id="24" name="Text 22"/>
          <p:cNvSpPr/>
          <p:nvPr/>
        </p:nvSpPr>
        <p:spPr>
          <a:xfrm>
            <a:off x="8220456"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835 Remit</a:t>
            </a:r>
            <a:endParaRPr lang="en-US" sz="680" dirty="0"/>
          </a:p>
        </p:txBody>
      </p:sp>
      <p:sp>
        <p:nvSpPr>
          <p:cNvPr id="25" name="Shape 23"/>
          <p:cNvSpPr/>
          <p:nvPr/>
        </p:nvSpPr>
        <p:spPr>
          <a:xfrm>
            <a:off x="9171432" y="1700784"/>
            <a:ext cx="146304" cy="0"/>
          </a:xfrm>
          <a:prstGeom prst="line">
            <a:avLst/>
          </a:prstGeom>
          <a:noFill/>
          <a:ln w="20320">
            <a:solidFill>
              <a:srgbClr val="9AA8BA"/>
            </a:solidFill>
            <a:prstDash val="solid"/>
            <a:headEnd type="none"/>
            <a:tailEnd type="triangle"/>
          </a:ln>
        </p:spPr>
      </p:sp>
      <p:sp>
        <p:nvSpPr>
          <p:cNvPr id="26" name="Shape 24"/>
          <p:cNvSpPr/>
          <p:nvPr/>
        </p:nvSpPr>
        <p:spPr>
          <a:xfrm>
            <a:off x="9372600" y="1508760"/>
            <a:ext cx="960120" cy="384048"/>
          </a:xfrm>
          <a:prstGeom prst="roundRect">
            <a:avLst>
              <a:gd name="adj" fmla="val 14286"/>
            </a:avLst>
          </a:prstGeom>
          <a:solidFill>
            <a:srgbClr val="FEF4E6"/>
          </a:solidFill>
          <a:ln w="12700">
            <a:solidFill>
              <a:srgbClr val="BFD0E5"/>
            </a:solidFill>
            <a:prstDash val="solid"/>
          </a:ln>
        </p:spPr>
      </p:sp>
      <p:sp>
        <p:nvSpPr>
          <p:cNvPr id="27" name="Text 25"/>
          <p:cNvSpPr/>
          <p:nvPr/>
        </p:nvSpPr>
        <p:spPr>
          <a:xfrm>
            <a:off x="9409176" y="1627632"/>
            <a:ext cx="886968" cy="109728"/>
          </a:xfrm>
          <a:prstGeom prst="rect">
            <a:avLst/>
          </a:prstGeom>
          <a:noFill/>
          <a:ln/>
        </p:spPr>
        <p:txBody>
          <a:bodyPr wrap="square" lIns="0" tIns="0" rIns="0" bIns="0" rtlCol="0" anchor="ctr">
            <a:normAutofit/>
          </a:bodyPr>
          <a:lstStyle/>
          <a:p>
            <a:pPr algn="ctr" indent="0" marL="0">
              <a:buNone/>
            </a:pPr>
            <a:r>
              <a:rPr lang="en-US" sz="680" b="1" dirty="0">
                <a:solidFill>
                  <a:srgbClr val="13233A"/>
                </a:solidFill>
              </a:rPr>
              <a:t>Finance</a:t>
            </a:r>
            <a:endParaRPr lang="en-US" sz="680" dirty="0"/>
          </a:p>
        </p:txBody>
      </p:sp>
      <p:sp>
        <p:nvSpPr>
          <p:cNvPr id="28" name="Shape 26"/>
          <p:cNvSpPr/>
          <p:nvPr/>
        </p:nvSpPr>
        <p:spPr>
          <a:xfrm>
            <a:off x="749808" y="2971800"/>
            <a:ext cx="3090672" cy="2240280"/>
          </a:xfrm>
          <a:prstGeom prst="roundRect">
            <a:avLst>
              <a:gd name="adj" fmla="val 4082"/>
            </a:avLst>
          </a:prstGeom>
          <a:solidFill>
            <a:srgbClr val="FEF4E6"/>
          </a:solidFill>
          <a:ln w="11430">
            <a:solidFill>
              <a:srgbClr val="D8C4A7"/>
            </a:solidFill>
            <a:prstDash val="solid"/>
          </a:ln>
          <a:effectLst>
            <a:outerShdw sx="100000" sy="100000" kx="0" ky="0" algn="bl" rotWithShape="0" blurRad="12700" dist="50800" dir="2700000">
              <a:srgbClr val="CBD5E1">
                <a:alpha val="16000"/>
              </a:srgbClr>
            </a:outerShdw>
          </a:effectLst>
        </p:spPr>
      </p:sp>
      <p:sp>
        <p:nvSpPr>
          <p:cNvPr id="29" name="Text 27"/>
          <p:cNvSpPr/>
          <p:nvPr/>
        </p:nvSpPr>
        <p:spPr>
          <a:xfrm>
            <a:off x="914400" y="3182112"/>
            <a:ext cx="2743200" cy="347472"/>
          </a:xfrm>
          <a:prstGeom prst="rect">
            <a:avLst/>
          </a:prstGeom>
          <a:noFill/>
          <a:ln/>
        </p:spPr>
        <p:txBody>
          <a:bodyPr wrap="square" lIns="0" tIns="0" rIns="0" bIns="0" rtlCol="0" anchor="ctr">
            <a:normAutofit/>
          </a:bodyPr>
          <a:lstStyle/>
          <a:p>
            <a:pPr indent="0" marL="0">
              <a:buNone/>
            </a:pPr>
            <a:r>
              <a:rPr lang="en-US" sz="1220" b="1" dirty="0">
                <a:solidFill>
                  <a:srgbClr val="13233A"/>
                </a:solidFill>
              </a:rPr>
              <a:t>2. Claims Processing &amp; Adjudication</a:t>
            </a:r>
            <a:endParaRPr lang="en-US" sz="1220" dirty="0"/>
          </a:p>
        </p:txBody>
      </p:sp>
      <p:sp>
        <p:nvSpPr>
          <p:cNvPr id="30" name="Text 28"/>
          <p:cNvSpPr/>
          <p:nvPr/>
        </p:nvSpPr>
        <p:spPr>
          <a:xfrm>
            <a:off x="914400" y="3776472"/>
            <a:ext cx="1005840" cy="146304"/>
          </a:xfrm>
          <a:prstGeom prst="rect">
            <a:avLst/>
          </a:prstGeom>
          <a:noFill/>
          <a:ln/>
        </p:spPr>
        <p:txBody>
          <a:bodyPr wrap="square" lIns="0" tIns="0" rIns="0" bIns="0" rtlCol="0" anchor="ctr"/>
          <a:lstStyle/>
          <a:p>
            <a:pPr indent="0" marL="0">
              <a:buNone/>
            </a:pPr>
            <a:r>
              <a:rPr lang="en-US" sz="650" b="1" dirty="0">
                <a:solidFill>
                  <a:srgbClr val="EA580C"/>
                </a:solidFill>
              </a:rPr>
              <a:t>Product concerns</a:t>
            </a:r>
            <a:endParaRPr lang="en-US" sz="650" dirty="0"/>
          </a:p>
        </p:txBody>
      </p:sp>
      <p:sp>
        <p:nvSpPr>
          <p:cNvPr id="31" name="Text 29"/>
          <p:cNvSpPr/>
          <p:nvPr/>
        </p:nvSpPr>
        <p:spPr>
          <a:xfrm>
            <a:off x="914400" y="3977640"/>
            <a:ext cx="2743200" cy="384048"/>
          </a:xfrm>
          <a:prstGeom prst="rect">
            <a:avLst/>
          </a:prstGeom>
          <a:noFill/>
          <a:ln/>
        </p:spPr>
        <p:txBody>
          <a:bodyPr wrap="square" lIns="0" tIns="0" rIns="0" bIns="0" rtlCol="0" anchor="ctr">
            <a:normAutofit/>
          </a:bodyPr>
          <a:lstStyle/>
          <a:p>
            <a:pPr indent="0" marL="0">
              <a:buNone/>
            </a:pPr>
            <a:r>
              <a:rPr lang="en-US" sz="780" dirty="0">
                <a:solidFill>
                  <a:srgbClr val="475569"/>
                </a:solidFill>
              </a:rPr>
              <a:t>Pricing accuracy, rules configuration, duplicate claims, provider/member validation</a:t>
            </a:r>
            <a:endParaRPr lang="en-US" sz="780" dirty="0"/>
          </a:p>
        </p:txBody>
      </p:sp>
      <p:sp>
        <p:nvSpPr>
          <p:cNvPr id="32" name="Text 30"/>
          <p:cNvSpPr/>
          <p:nvPr/>
        </p:nvSpPr>
        <p:spPr>
          <a:xfrm>
            <a:off x="914400" y="4572000"/>
            <a:ext cx="457200" cy="146304"/>
          </a:xfrm>
          <a:prstGeom prst="rect">
            <a:avLst/>
          </a:prstGeom>
          <a:noFill/>
          <a:ln/>
        </p:spPr>
        <p:txBody>
          <a:bodyPr wrap="square" lIns="0" tIns="0" rIns="0" bIns="0" rtlCol="0" anchor="ctr"/>
          <a:lstStyle/>
          <a:p>
            <a:pPr indent="0" marL="0">
              <a:buNone/>
            </a:pPr>
            <a:r>
              <a:rPr lang="en-US" sz="650" b="1" dirty="0">
                <a:solidFill>
                  <a:srgbClr val="EA580C"/>
                </a:solidFill>
              </a:rPr>
              <a:t>KPIs</a:t>
            </a:r>
            <a:endParaRPr lang="en-US" sz="650" dirty="0"/>
          </a:p>
        </p:txBody>
      </p:sp>
      <p:sp>
        <p:nvSpPr>
          <p:cNvPr id="33" name="Text 31"/>
          <p:cNvSpPr/>
          <p:nvPr/>
        </p:nvSpPr>
        <p:spPr>
          <a:xfrm>
            <a:off x="914400" y="4773168"/>
            <a:ext cx="2743200" cy="384048"/>
          </a:xfrm>
          <a:prstGeom prst="rect">
            <a:avLst/>
          </a:prstGeom>
          <a:noFill/>
          <a:ln/>
        </p:spPr>
        <p:txBody>
          <a:bodyPr wrap="square" lIns="0" tIns="0" rIns="0" bIns="0" rtlCol="0" anchor="ctr">
            <a:normAutofit/>
          </a:bodyPr>
          <a:lstStyle/>
          <a:p>
            <a:pPr indent="0" marL="0">
              <a:buNone/>
            </a:pPr>
            <a:r>
              <a:rPr lang="en-US" sz="780" dirty="0">
                <a:solidFill>
                  <a:srgbClr val="475569"/>
                </a:solidFill>
              </a:rPr>
              <a:t>Auto-adjudication %, claim cycle time, payment accuracy, denial/rework rate</a:t>
            </a:r>
            <a:endParaRPr lang="en-US" sz="780" dirty="0"/>
          </a:p>
        </p:txBody>
      </p:sp>
      <p:sp>
        <p:nvSpPr>
          <p:cNvPr id="34" name="Shape 32"/>
          <p:cNvSpPr/>
          <p:nvPr/>
        </p:nvSpPr>
        <p:spPr>
          <a:xfrm>
            <a:off x="4215384" y="2971800"/>
            <a:ext cx="3090672" cy="2240280"/>
          </a:xfrm>
          <a:prstGeom prst="roundRect">
            <a:avLst>
              <a:gd name="adj" fmla="val 4082"/>
            </a:avLst>
          </a:prstGeom>
          <a:solidFill>
            <a:srgbClr val="FFF0E8"/>
          </a:solidFill>
          <a:ln w="11430">
            <a:solidFill>
              <a:srgbClr val="D8C4A7"/>
            </a:solidFill>
            <a:prstDash val="solid"/>
          </a:ln>
          <a:effectLst>
            <a:outerShdw sx="100000" sy="100000" kx="0" ky="0" algn="bl" rotWithShape="0" blurRad="12700" dist="50800" dir="2700000">
              <a:srgbClr val="CBD5E1">
                <a:alpha val="16000"/>
              </a:srgbClr>
            </a:outerShdw>
          </a:effectLst>
        </p:spPr>
      </p:sp>
      <p:sp>
        <p:nvSpPr>
          <p:cNvPr id="35" name="Text 33"/>
          <p:cNvSpPr/>
          <p:nvPr/>
        </p:nvSpPr>
        <p:spPr>
          <a:xfrm>
            <a:off x="4379976" y="3182112"/>
            <a:ext cx="2743200" cy="347472"/>
          </a:xfrm>
          <a:prstGeom prst="rect">
            <a:avLst/>
          </a:prstGeom>
          <a:noFill/>
          <a:ln/>
        </p:spPr>
        <p:txBody>
          <a:bodyPr wrap="square" lIns="0" tIns="0" rIns="0" bIns="0" rtlCol="0" anchor="ctr">
            <a:normAutofit/>
          </a:bodyPr>
          <a:lstStyle/>
          <a:p>
            <a:pPr indent="0" marL="0">
              <a:buNone/>
            </a:pPr>
            <a:r>
              <a:rPr lang="en-US" sz="1220" b="1" dirty="0">
                <a:solidFill>
                  <a:srgbClr val="13233A"/>
                </a:solidFill>
              </a:rPr>
              <a:t>9. Third Party Liability</a:t>
            </a:r>
            <a:endParaRPr lang="en-US" sz="1220" dirty="0"/>
          </a:p>
        </p:txBody>
      </p:sp>
      <p:sp>
        <p:nvSpPr>
          <p:cNvPr id="36" name="Text 34"/>
          <p:cNvSpPr/>
          <p:nvPr/>
        </p:nvSpPr>
        <p:spPr>
          <a:xfrm>
            <a:off x="4379976" y="3776472"/>
            <a:ext cx="1005840" cy="146304"/>
          </a:xfrm>
          <a:prstGeom prst="rect">
            <a:avLst/>
          </a:prstGeom>
          <a:noFill/>
          <a:ln/>
        </p:spPr>
        <p:txBody>
          <a:bodyPr wrap="square" lIns="0" tIns="0" rIns="0" bIns="0" rtlCol="0" anchor="ctr"/>
          <a:lstStyle/>
          <a:p>
            <a:pPr indent="0" marL="0">
              <a:buNone/>
            </a:pPr>
            <a:r>
              <a:rPr lang="en-US" sz="650" b="1" dirty="0">
                <a:solidFill>
                  <a:srgbClr val="EA580C"/>
                </a:solidFill>
              </a:rPr>
              <a:t>Product concerns</a:t>
            </a:r>
            <a:endParaRPr lang="en-US" sz="650" dirty="0"/>
          </a:p>
        </p:txBody>
      </p:sp>
      <p:sp>
        <p:nvSpPr>
          <p:cNvPr id="37" name="Text 35"/>
          <p:cNvSpPr/>
          <p:nvPr/>
        </p:nvSpPr>
        <p:spPr>
          <a:xfrm>
            <a:off x="4379976" y="3977640"/>
            <a:ext cx="2743200" cy="384048"/>
          </a:xfrm>
          <a:prstGeom prst="rect">
            <a:avLst/>
          </a:prstGeom>
          <a:noFill/>
          <a:ln/>
        </p:spPr>
        <p:txBody>
          <a:bodyPr wrap="square" lIns="0" tIns="0" rIns="0" bIns="0" rtlCol="0" anchor="ctr">
            <a:normAutofit/>
          </a:bodyPr>
          <a:lstStyle/>
          <a:p>
            <a:pPr indent="0" marL="0">
              <a:buNone/>
            </a:pPr>
            <a:r>
              <a:rPr lang="en-US" sz="780" dirty="0">
                <a:solidFill>
                  <a:srgbClr val="475569"/>
                </a:solidFill>
              </a:rPr>
              <a:t>Coverage discovery, COB accuracy, carrier matching, subrogation and recovery delays</a:t>
            </a:r>
            <a:endParaRPr lang="en-US" sz="780" dirty="0"/>
          </a:p>
        </p:txBody>
      </p:sp>
      <p:sp>
        <p:nvSpPr>
          <p:cNvPr id="38" name="Text 36"/>
          <p:cNvSpPr/>
          <p:nvPr/>
        </p:nvSpPr>
        <p:spPr>
          <a:xfrm>
            <a:off x="4379976" y="4572000"/>
            <a:ext cx="457200" cy="146304"/>
          </a:xfrm>
          <a:prstGeom prst="rect">
            <a:avLst/>
          </a:prstGeom>
          <a:noFill/>
          <a:ln/>
        </p:spPr>
        <p:txBody>
          <a:bodyPr wrap="square" lIns="0" tIns="0" rIns="0" bIns="0" rtlCol="0" anchor="ctr"/>
          <a:lstStyle/>
          <a:p>
            <a:pPr indent="0" marL="0">
              <a:buNone/>
            </a:pPr>
            <a:r>
              <a:rPr lang="en-US" sz="650" b="1" dirty="0">
                <a:solidFill>
                  <a:srgbClr val="EA580C"/>
                </a:solidFill>
              </a:rPr>
              <a:t>KPIs</a:t>
            </a:r>
            <a:endParaRPr lang="en-US" sz="650" dirty="0"/>
          </a:p>
        </p:txBody>
      </p:sp>
      <p:sp>
        <p:nvSpPr>
          <p:cNvPr id="39" name="Text 37"/>
          <p:cNvSpPr/>
          <p:nvPr/>
        </p:nvSpPr>
        <p:spPr>
          <a:xfrm>
            <a:off x="4379976" y="4773168"/>
            <a:ext cx="2743200" cy="384048"/>
          </a:xfrm>
          <a:prstGeom prst="rect">
            <a:avLst/>
          </a:prstGeom>
          <a:noFill/>
          <a:ln/>
        </p:spPr>
        <p:txBody>
          <a:bodyPr wrap="square" lIns="0" tIns="0" rIns="0" bIns="0" rtlCol="0" anchor="ctr">
            <a:normAutofit/>
          </a:bodyPr>
          <a:lstStyle/>
          <a:p>
            <a:pPr indent="0" marL="0">
              <a:buNone/>
            </a:pPr>
            <a:r>
              <a:rPr lang="en-US" sz="780" dirty="0">
                <a:solidFill>
                  <a:srgbClr val="475569"/>
                </a:solidFill>
              </a:rPr>
              <a:t>Recovery dollars, avoided payments, recovery cycle time, primary-payer accuracy</a:t>
            </a:r>
            <a:endParaRPr lang="en-US" sz="780" dirty="0"/>
          </a:p>
        </p:txBody>
      </p:sp>
      <p:sp>
        <p:nvSpPr>
          <p:cNvPr id="40" name="Shape 38"/>
          <p:cNvSpPr/>
          <p:nvPr/>
        </p:nvSpPr>
        <p:spPr>
          <a:xfrm>
            <a:off x="7680960" y="2971800"/>
            <a:ext cx="3090672" cy="2240280"/>
          </a:xfrm>
          <a:prstGeom prst="roundRect">
            <a:avLst>
              <a:gd name="adj" fmla="val 4082"/>
            </a:avLst>
          </a:prstGeom>
          <a:solidFill>
            <a:srgbClr val="F8F0E8"/>
          </a:solidFill>
          <a:ln w="11430">
            <a:solidFill>
              <a:srgbClr val="D8C4A7"/>
            </a:solidFill>
            <a:prstDash val="solid"/>
          </a:ln>
          <a:effectLst>
            <a:outerShdw sx="100000" sy="100000" kx="0" ky="0" algn="bl" rotWithShape="0" blurRad="12700" dist="50800" dir="2700000">
              <a:srgbClr val="CBD5E1">
                <a:alpha val="16000"/>
              </a:srgbClr>
            </a:outerShdw>
          </a:effectLst>
        </p:spPr>
      </p:sp>
      <p:sp>
        <p:nvSpPr>
          <p:cNvPr id="41" name="Text 39"/>
          <p:cNvSpPr/>
          <p:nvPr/>
        </p:nvSpPr>
        <p:spPr>
          <a:xfrm>
            <a:off x="7845552" y="3182112"/>
            <a:ext cx="2743200" cy="347472"/>
          </a:xfrm>
          <a:prstGeom prst="rect">
            <a:avLst/>
          </a:prstGeom>
          <a:noFill/>
          <a:ln/>
        </p:spPr>
        <p:txBody>
          <a:bodyPr wrap="square" lIns="0" tIns="0" rIns="0" bIns="0" rtlCol="0" anchor="ctr">
            <a:normAutofit/>
          </a:bodyPr>
          <a:lstStyle/>
          <a:p>
            <a:pPr indent="0" marL="0">
              <a:buNone/>
            </a:pPr>
            <a:r>
              <a:rPr lang="en-US" sz="1220" b="1" dirty="0">
                <a:solidFill>
                  <a:srgbClr val="13233A"/>
                </a:solidFill>
              </a:rPr>
              <a:t>10. Financial Management &amp; Payment Integrity</a:t>
            </a:r>
            <a:endParaRPr lang="en-US" sz="1220" dirty="0"/>
          </a:p>
        </p:txBody>
      </p:sp>
      <p:sp>
        <p:nvSpPr>
          <p:cNvPr id="42" name="Text 40"/>
          <p:cNvSpPr/>
          <p:nvPr/>
        </p:nvSpPr>
        <p:spPr>
          <a:xfrm>
            <a:off x="7845552" y="3776472"/>
            <a:ext cx="1005840" cy="146304"/>
          </a:xfrm>
          <a:prstGeom prst="rect">
            <a:avLst/>
          </a:prstGeom>
          <a:noFill/>
          <a:ln/>
        </p:spPr>
        <p:txBody>
          <a:bodyPr wrap="square" lIns="0" tIns="0" rIns="0" bIns="0" rtlCol="0" anchor="ctr"/>
          <a:lstStyle/>
          <a:p>
            <a:pPr indent="0" marL="0">
              <a:buNone/>
            </a:pPr>
            <a:r>
              <a:rPr lang="en-US" sz="650" b="1" dirty="0">
                <a:solidFill>
                  <a:srgbClr val="EA580C"/>
                </a:solidFill>
              </a:rPr>
              <a:t>Product concerns</a:t>
            </a:r>
            <a:endParaRPr lang="en-US" sz="650" dirty="0"/>
          </a:p>
        </p:txBody>
      </p:sp>
      <p:sp>
        <p:nvSpPr>
          <p:cNvPr id="43" name="Text 41"/>
          <p:cNvSpPr/>
          <p:nvPr/>
        </p:nvSpPr>
        <p:spPr>
          <a:xfrm>
            <a:off x="7845552" y="3977640"/>
            <a:ext cx="2743200" cy="384048"/>
          </a:xfrm>
          <a:prstGeom prst="rect">
            <a:avLst/>
          </a:prstGeom>
          <a:noFill/>
          <a:ln/>
        </p:spPr>
        <p:txBody>
          <a:bodyPr wrap="square" lIns="0" tIns="0" rIns="0" bIns="0" rtlCol="0" anchor="ctr">
            <a:normAutofit/>
          </a:bodyPr>
          <a:lstStyle/>
          <a:p>
            <a:pPr indent="0" marL="0">
              <a:buNone/>
            </a:pPr>
            <a:r>
              <a:rPr lang="en-US" sz="780" dirty="0">
                <a:solidFill>
                  <a:srgbClr val="475569"/>
                </a:solidFill>
              </a:rPr>
              <a:t>Duplicate payments, coding issues, fraud/waste, reconciliation and false positives</a:t>
            </a:r>
            <a:endParaRPr lang="en-US" sz="780" dirty="0"/>
          </a:p>
        </p:txBody>
      </p:sp>
      <p:sp>
        <p:nvSpPr>
          <p:cNvPr id="44" name="Text 42"/>
          <p:cNvSpPr/>
          <p:nvPr/>
        </p:nvSpPr>
        <p:spPr>
          <a:xfrm>
            <a:off x="7845552" y="4572000"/>
            <a:ext cx="457200" cy="146304"/>
          </a:xfrm>
          <a:prstGeom prst="rect">
            <a:avLst/>
          </a:prstGeom>
          <a:noFill/>
          <a:ln/>
        </p:spPr>
        <p:txBody>
          <a:bodyPr wrap="square" lIns="0" tIns="0" rIns="0" bIns="0" rtlCol="0" anchor="ctr"/>
          <a:lstStyle/>
          <a:p>
            <a:pPr indent="0" marL="0">
              <a:buNone/>
            </a:pPr>
            <a:r>
              <a:rPr lang="en-US" sz="650" b="1" dirty="0">
                <a:solidFill>
                  <a:srgbClr val="EA580C"/>
                </a:solidFill>
              </a:rPr>
              <a:t>KPIs</a:t>
            </a:r>
            <a:endParaRPr lang="en-US" sz="650" dirty="0"/>
          </a:p>
        </p:txBody>
      </p:sp>
      <p:sp>
        <p:nvSpPr>
          <p:cNvPr id="45" name="Text 43"/>
          <p:cNvSpPr/>
          <p:nvPr/>
        </p:nvSpPr>
        <p:spPr>
          <a:xfrm>
            <a:off x="7845552" y="4773168"/>
            <a:ext cx="2743200" cy="384048"/>
          </a:xfrm>
          <a:prstGeom prst="rect">
            <a:avLst/>
          </a:prstGeom>
          <a:noFill/>
          <a:ln/>
        </p:spPr>
        <p:txBody>
          <a:bodyPr wrap="square" lIns="0" tIns="0" rIns="0" bIns="0" rtlCol="0" anchor="ctr">
            <a:normAutofit/>
          </a:bodyPr>
          <a:lstStyle/>
          <a:p>
            <a:pPr indent="0" marL="0">
              <a:buNone/>
            </a:pPr>
            <a:r>
              <a:rPr lang="en-US" sz="780" dirty="0">
                <a:solidFill>
                  <a:srgbClr val="475569"/>
                </a:solidFill>
              </a:rPr>
              <a:t>Overpayment recovery, payment accuracy, false-positive rate, provider disputes</a:t>
            </a:r>
            <a:endParaRPr lang="en-US" sz="78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Data and regulatory spine: encounters, CMS reporting and EDW</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Data products convert operational activity into compliance, analytics, and AI readiness.</a:t>
            </a:r>
            <a:endParaRPr lang="en-US" sz="950" dirty="0"/>
          </a:p>
        </p:txBody>
      </p:sp>
      <p:sp>
        <p:nvSpPr>
          <p:cNvPr id="4" name="Shape 2"/>
          <p:cNvSpPr/>
          <p:nvPr/>
        </p:nvSpPr>
        <p:spPr>
          <a:xfrm>
            <a:off x="640080" y="1325880"/>
            <a:ext cx="5257800" cy="4160520"/>
          </a:xfrm>
          <a:prstGeom prst="roundRect">
            <a:avLst>
              <a:gd name="adj" fmla="val 2198"/>
            </a:avLst>
          </a:prstGeom>
          <a:solidFill>
            <a:srgbClr val="EAF7F0"/>
          </a:solidFill>
          <a:ln w="11430">
            <a:solidFill>
              <a:srgbClr val="CBE2D5"/>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896112" y="1627632"/>
            <a:ext cx="4663440" cy="310896"/>
          </a:xfrm>
          <a:prstGeom prst="rect">
            <a:avLst/>
          </a:prstGeom>
          <a:noFill/>
          <a:ln/>
        </p:spPr>
        <p:txBody>
          <a:bodyPr wrap="square" lIns="0" tIns="0" rIns="0" bIns="0" rtlCol="0" anchor="ctr">
            <a:normAutofit/>
          </a:bodyPr>
          <a:lstStyle/>
          <a:p>
            <a:pPr indent="0" marL="0">
              <a:buNone/>
            </a:pPr>
            <a:r>
              <a:rPr lang="en-US" sz="1500" b="1" dirty="0">
                <a:solidFill>
                  <a:srgbClr val="13233A"/>
                </a:solidFill>
              </a:rPr>
              <a:t>8. Encounter Data &amp; CMS Reporting</a:t>
            </a:r>
            <a:endParaRPr lang="en-US" sz="1500" dirty="0"/>
          </a:p>
        </p:txBody>
      </p:sp>
      <p:sp>
        <p:nvSpPr>
          <p:cNvPr id="6" name="Text 4"/>
          <p:cNvSpPr/>
          <p:nvPr/>
        </p:nvSpPr>
        <p:spPr>
          <a:xfrm>
            <a:off x="914400" y="2212848"/>
            <a:ext cx="4617720" cy="2468880"/>
          </a:xfrm>
          <a:prstGeom prst="rect">
            <a:avLst/>
          </a:prstGeom>
          <a:noFill/>
          <a:ln/>
        </p:spPr>
        <p:txBody>
          <a:bodyPr wrap="square" lIns="381" tIns="381" rIns="381" bIns="381" rtlCol="0" anchor="t">
            <a:normAutofit/>
          </a:bodyPr>
          <a:lstStyle/>
          <a:p>
            <a:pPr indent="0" marL="0">
              <a:buNone/>
            </a:pPr>
            <a:r>
              <a:rPr lang="en-US" sz="930" dirty="0">
                <a:solidFill>
                  <a:srgbClr val="475569"/>
                </a:solidFill>
              </a:rPr>
              <a:t>• Validate service-level encounters for Medicare, Medicaid and state program reporting
</a:t>
            </a:r>
            <a:pPr indent="0" marL="0">
              <a:buNone/>
            </a:pPr>
            <a:r>
              <a:rPr lang="en-US" sz="930" dirty="0">
                <a:solidFill>
                  <a:srgbClr val="475569"/>
                </a:solidFill>
              </a:rPr>
              <a:t>• Normalize member, provider, diagnosis, procedure and service-date fields
</a:t>
            </a:r>
            <a:pPr indent="0" marL="0">
              <a:buNone/>
            </a:pPr>
            <a:r>
              <a:rPr lang="en-US" sz="930" dirty="0">
                <a:solidFill>
                  <a:srgbClr val="475569"/>
                </a:solidFill>
              </a:rPr>
              <a:t>• Manage reject, correction and resubmission loops with audit history
</a:t>
            </a:r>
            <a:pPr indent="0" marL="0">
              <a:buNone/>
            </a:pPr>
            <a:r>
              <a:rPr lang="en-US" sz="930" dirty="0">
                <a:solidFill>
                  <a:srgbClr val="475569"/>
                </a:solidFill>
              </a:rPr>
              <a:t>• Product concerns: completeness, coding quality, provider matching, timeliness
</a:t>
            </a:r>
            <a:pPr indent="0" marL="0">
              <a:buNone/>
            </a:pPr>
            <a:r>
              <a:rPr lang="en-US" sz="930" dirty="0">
                <a:solidFill>
                  <a:srgbClr val="475569"/>
                </a:solidFill>
              </a:rPr>
              <a:t>• KPIs: CMS acceptance %, rejection %, submission timeliness, completeness</a:t>
            </a:r>
            <a:endParaRPr lang="en-US" sz="930" dirty="0"/>
          </a:p>
        </p:txBody>
      </p:sp>
      <p:sp>
        <p:nvSpPr>
          <p:cNvPr id="7" name="Shape 5"/>
          <p:cNvSpPr/>
          <p:nvPr/>
        </p:nvSpPr>
        <p:spPr>
          <a:xfrm>
            <a:off x="6309360" y="1325880"/>
            <a:ext cx="5257800" cy="4160520"/>
          </a:xfrm>
          <a:prstGeom prst="roundRect">
            <a:avLst>
              <a:gd name="adj" fmla="val 2198"/>
            </a:avLst>
          </a:prstGeom>
          <a:solidFill>
            <a:srgbClr val="EAF2FF"/>
          </a:solidFill>
          <a:ln w="11430">
            <a:solidFill>
              <a:srgbClr val="CAD8EA"/>
            </a:solidFill>
            <a:prstDash val="solid"/>
          </a:ln>
          <a:effectLst>
            <a:outerShdw sx="100000" sy="100000" kx="0" ky="0" algn="bl" rotWithShape="0" blurRad="12700" dist="50800" dir="2700000">
              <a:srgbClr val="CBD5E1">
                <a:alpha val="16000"/>
              </a:srgbClr>
            </a:outerShdw>
          </a:effectLst>
        </p:spPr>
      </p:sp>
      <p:sp>
        <p:nvSpPr>
          <p:cNvPr id="8" name="Text 6"/>
          <p:cNvSpPr/>
          <p:nvPr/>
        </p:nvSpPr>
        <p:spPr>
          <a:xfrm>
            <a:off x="6565392" y="1627632"/>
            <a:ext cx="4663440" cy="310896"/>
          </a:xfrm>
          <a:prstGeom prst="rect">
            <a:avLst/>
          </a:prstGeom>
          <a:noFill/>
          <a:ln/>
        </p:spPr>
        <p:txBody>
          <a:bodyPr wrap="square" lIns="0" tIns="0" rIns="0" bIns="0" rtlCol="0" anchor="ctr">
            <a:normAutofit/>
          </a:bodyPr>
          <a:lstStyle/>
          <a:p>
            <a:pPr indent="0" marL="0">
              <a:buNone/>
            </a:pPr>
            <a:r>
              <a:rPr lang="en-US" sz="1500" b="1" dirty="0">
                <a:solidFill>
                  <a:srgbClr val="13233A"/>
                </a:solidFill>
              </a:rPr>
              <a:t>11. Enterprise Data Warehouse &amp; Pipelines</a:t>
            </a:r>
            <a:endParaRPr lang="en-US" sz="1500" dirty="0"/>
          </a:p>
        </p:txBody>
      </p:sp>
      <p:sp>
        <p:nvSpPr>
          <p:cNvPr id="9" name="Text 7"/>
          <p:cNvSpPr/>
          <p:nvPr/>
        </p:nvSpPr>
        <p:spPr>
          <a:xfrm>
            <a:off x="6583680" y="2212848"/>
            <a:ext cx="4617720" cy="2468880"/>
          </a:xfrm>
          <a:prstGeom prst="rect">
            <a:avLst/>
          </a:prstGeom>
          <a:noFill/>
          <a:ln/>
        </p:spPr>
        <p:txBody>
          <a:bodyPr wrap="square" lIns="381" tIns="381" rIns="381" bIns="381" rtlCol="0" anchor="t">
            <a:normAutofit/>
          </a:bodyPr>
          <a:lstStyle/>
          <a:p>
            <a:pPr indent="0" marL="0">
              <a:buNone/>
            </a:pPr>
            <a:r>
              <a:rPr lang="en-US" sz="930" dirty="0">
                <a:solidFill>
                  <a:srgbClr val="475569"/>
                </a:solidFill>
              </a:rPr>
              <a:t>• Integrate enrollment, claims, authorization, provider, appeals, care and finance data
</a:t>
            </a:r>
            <a:pPr indent="0" marL="0">
              <a:buNone/>
            </a:pPr>
            <a:r>
              <a:rPr lang="en-US" sz="930" dirty="0">
                <a:solidFill>
                  <a:srgbClr val="475569"/>
                </a:solidFill>
              </a:rPr>
              <a:t>• Create conformed definitions for member, provider, claim, encounter and payment
</a:t>
            </a:r>
            <a:pPr indent="0" marL="0">
              <a:buNone/>
            </a:pPr>
            <a:r>
              <a:rPr lang="en-US" sz="930" dirty="0">
                <a:solidFill>
                  <a:srgbClr val="475569"/>
                </a:solidFill>
              </a:rPr>
              <a:t>• Serve executive dashboards, regulatory reporting, analytics and AI model features
</a:t>
            </a:r>
            <a:pPr indent="0" marL="0">
              <a:buNone/>
            </a:pPr>
            <a:r>
              <a:rPr lang="en-US" sz="930" dirty="0">
                <a:solidFill>
                  <a:srgbClr val="475569"/>
                </a:solidFill>
              </a:rPr>
              <a:t>• Product concerns: data lineage, freshness, access control, reconciliation
</a:t>
            </a:r>
            <a:pPr indent="0" marL="0">
              <a:buNone/>
            </a:pPr>
            <a:r>
              <a:rPr lang="en-US" sz="930" dirty="0">
                <a:solidFill>
                  <a:srgbClr val="475569"/>
                </a:solidFill>
              </a:rPr>
              <a:t>• KPIs: freshness, quality score, report latency, pipeline failure rate</a:t>
            </a:r>
            <a:endParaRPr lang="en-US" sz="930" dirty="0"/>
          </a:p>
        </p:txBody>
      </p:sp>
      <p:sp>
        <p:nvSpPr>
          <p:cNvPr id="10" name="Text 8"/>
          <p:cNvSpPr/>
          <p:nvPr/>
        </p:nvSpPr>
        <p:spPr>
          <a:xfrm>
            <a:off x="914400" y="5879592"/>
            <a:ext cx="10332720" cy="274320"/>
          </a:xfrm>
          <a:prstGeom prst="rect">
            <a:avLst/>
          </a:prstGeom>
          <a:noFill/>
          <a:ln/>
        </p:spPr>
        <p:txBody>
          <a:bodyPr wrap="square" lIns="0" tIns="0" rIns="0" bIns="0" rtlCol="0" anchor="ctr">
            <a:normAutofit/>
          </a:bodyPr>
          <a:lstStyle/>
          <a:p>
            <a:pPr algn="ctr" indent="0" marL="0">
              <a:buNone/>
            </a:pPr>
            <a:r>
              <a:rPr lang="en-US" sz="1150" b="1" dirty="0">
                <a:solidFill>
                  <a:srgbClr val="13233A"/>
                </a:solidFill>
              </a:rPr>
              <a:t>Product insight: AI maturity depends on data product maturity. Without lineage, definitions, quality controls and reconciliation, AI outputs are not trustworthy.</a:t>
            </a:r>
            <a:endParaRPr lang="en-US" sz="115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KPI scorecard: connect product health to business outcomes</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A senior product leader should measure outcomes, not just feature delivery.</a:t>
            </a:r>
            <a:endParaRPr lang="en-US" sz="950" dirty="0"/>
          </a:p>
        </p:txBody>
      </p:sp>
      <p:sp>
        <p:nvSpPr>
          <p:cNvPr id="4" name="Shape 2"/>
          <p:cNvSpPr/>
          <p:nvPr/>
        </p:nvSpPr>
        <p:spPr>
          <a:xfrm>
            <a:off x="731520" y="1417320"/>
            <a:ext cx="1828800" cy="3291840"/>
          </a:xfrm>
          <a:prstGeom prst="roundRect">
            <a:avLst>
              <a:gd name="adj" fmla="val 5000"/>
            </a:avLst>
          </a:prstGeom>
          <a:solidFill>
            <a:srgbClr val="EAF2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859536" y="1682496"/>
            <a:ext cx="1554480" cy="228600"/>
          </a:xfrm>
          <a:prstGeom prst="rect">
            <a:avLst/>
          </a:prstGeom>
          <a:noFill/>
          <a:ln/>
        </p:spPr>
        <p:txBody>
          <a:bodyPr wrap="square" lIns="0" tIns="0" rIns="0" bIns="0" rtlCol="0" anchor="ctr"/>
          <a:lstStyle/>
          <a:p>
            <a:pPr algn="ctr" indent="0" marL="0">
              <a:buNone/>
            </a:pPr>
            <a:r>
              <a:rPr lang="en-US" sz="1300" b="1" dirty="0">
                <a:solidFill>
                  <a:srgbClr val="13233A"/>
                </a:solidFill>
              </a:rPr>
              <a:t>Operational</a:t>
            </a:r>
            <a:endParaRPr lang="en-US" sz="1300" dirty="0"/>
          </a:p>
        </p:txBody>
      </p:sp>
      <p:sp>
        <p:nvSpPr>
          <p:cNvPr id="6" name="Shape 4"/>
          <p:cNvSpPr/>
          <p:nvPr/>
        </p:nvSpPr>
        <p:spPr>
          <a:xfrm>
            <a:off x="1234440" y="2148840"/>
            <a:ext cx="822960" cy="822960"/>
          </a:xfrm>
          <a:prstGeom prst="arc">
            <a:avLst/>
          </a:prstGeom>
          <a:solidFill>
            <a:srgbClr val="EAF2FF">
              <a:alpha val="0"/>
            </a:srgbClr>
          </a:solidFill>
          <a:ln w="38100">
            <a:solidFill>
              <a:srgbClr val="2563EB"/>
            </a:solidFill>
            <a:prstDash val="solid"/>
          </a:ln>
        </p:spPr>
      </p:sp>
      <p:sp>
        <p:nvSpPr>
          <p:cNvPr id="7" name="Text 5"/>
          <p:cNvSpPr/>
          <p:nvPr/>
        </p:nvSpPr>
        <p:spPr>
          <a:xfrm>
            <a:off x="1417320" y="2414016"/>
            <a:ext cx="457200" cy="201168"/>
          </a:xfrm>
          <a:prstGeom prst="rect">
            <a:avLst/>
          </a:prstGeom>
          <a:noFill/>
          <a:ln/>
        </p:spPr>
        <p:txBody>
          <a:bodyPr wrap="square" lIns="0" tIns="0" rIns="0" bIns="0" rtlCol="0" anchor="ctr"/>
          <a:lstStyle/>
          <a:p>
            <a:pPr algn="ctr" indent="0" marL="0">
              <a:buNone/>
            </a:pPr>
            <a:r>
              <a:rPr lang="en-US" sz="1400" b="1" dirty="0">
                <a:solidFill>
                  <a:srgbClr val="2563EB"/>
                </a:solidFill>
              </a:rPr>
              <a:t>1</a:t>
            </a:r>
            <a:endParaRPr lang="en-US" sz="1400" dirty="0"/>
          </a:p>
        </p:txBody>
      </p:sp>
      <p:sp>
        <p:nvSpPr>
          <p:cNvPr id="8" name="Text 6"/>
          <p:cNvSpPr/>
          <p:nvPr/>
        </p:nvSpPr>
        <p:spPr>
          <a:xfrm>
            <a:off x="987552" y="3273552"/>
            <a:ext cx="1325880" cy="749808"/>
          </a:xfrm>
          <a:prstGeom prst="rect">
            <a:avLst/>
          </a:prstGeom>
          <a:noFill/>
          <a:ln/>
        </p:spPr>
        <p:txBody>
          <a:bodyPr wrap="square" lIns="0" tIns="0" rIns="0" bIns="0" rtlCol="0" anchor="ctr">
            <a:normAutofit/>
          </a:bodyPr>
          <a:lstStyle/>
          <a:p>
            <a:pPr algn="ctr" indent="0" marL="0">
              <a:buNone/>
            </a:pPr>
            <a:r>
              <a:rPr lang="en-US" sz="840" dirty="0">
                <a:solidFill>
                  <a:srgbClr val="475569"/>
                </a:solidFill>
              </a:rPr>
              <a:t>Cycle time</a:t>
            </a:r>
            <a:endParaRPr lang="en-US" sz="840" dirty="0"/>
          </a:p>
          <a:p>
            <a:pPr algn="ctr" indent="0" marL="0">
              <a:buNone/>
            </a:pPr>
            <a:r>
              <a:rPr lang="en-US" sz="840" dirty="0">
                <a:solidFill>
                  <a:srgbClr val="475569"/>
                </a:solidFill>
              </a:rPr>
              <a:t>Auto-adjudication</a:t>
            </a:r>
            <a:endParaRPr lang="en-US" sz="840" dirty="0"/>
          </a:p>
          <a:p>
            <a:pPr algn="ctr" indent="0" marL="0">
              <a:buNone/>
            </a:pPr>
            <a:r>
              <a:rPr lang="en-US" sz="840" dirty="0">
                <a:solidFill>
                  <a:srgbClr val="475569"/>
                </a:solidFill>
              </a:rPr>
              <a:t>Authorization TAT</a:t>
            </a:r>
            <a:endParaRPr lang="en-US" sz="840" dirty="0"/>
          </a:p>
          <a:p>
            <a:pPr algn="ctr" indent="0" marL="0">
              <a:buNone/>
            </a:pPr>
            <a:r>
              <a:rPr lang="en-US" sz="840" dirty="0">
                <a:solidFill>
                  <a:srgbClr val="475569"/>
                </a:solidFill>
              </a:rPr>
              <a:t>Appeal SLA</a:t>
            </a:r>
            <a:endParaRPr lang="en-US" sz="840" dirty="0"/>
          </a:p>
        </p:txBody>
      </p:sp>
      <p:sp>
        <p:nvSpPr>
          <p:cNvPr id="9" name="Shape 7"/>
          <p:cNvSpPr/>
          <p:nvPr/>
        </p:nvSpPr>
        <p:spPr>
          <a:xfrm>
            <a:off x="3017520" y="1417320"/>
            <a:ext cx="1828800" cy="3291840"/>
          </a:xfrm>
          <a:prstGeom prst="roundRect">
            <a:avLst>
              <a:gd name="adj" fmla="val 5000"/>
            </a:avLst>
          </a:prstGeom>
          <a:solidFill>
            <a:srgbClr val="FFF0E8"/>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10" name="Text 8"/>
          <p:cNvSpPr/>
          <p:nvPr/>
        </p:nvSpPr>
        <p:spPr>
          <a:xfrm>
            <a:off x="3145536" y="1682496"/>
            <a:ext cx="1554480" cy="228600"/>
          </a:xfrm>
          <a:prstGeom prst="rect">
            <a:avLst/>
          </a:prstGeom>
          <a:noFill/>
          <a:ln/>
        </p:spPr>
        <p:txBody>
          <a:bodyPr wrap="square" lIns="0" tIns="0" rIns="0" bIns="0" rtlCol="0" anchor="ctr"/>
          <a:lstStyle/>
          <a:p>
            <a:pPr algn="ctr" indent="0" marL="0">
              <a:buNone/>
            </a:pPr>
            <a:r>
              <a:rPr lang="en-US" sz="1300" b="1" dirty="0">
                <a:solidFill>
                  <a:srgbClr val="13233A"/>
                </a:solidFill>
              </a:rPr>
              <a:t>Financial</a:t>
            </a:r>
            <a:endParaRPr lang="en-US" sz="1300" dirty="0"/>
          </a:p>
        </p:txBody>
      </p:sp>
      <p:sp>
        <p:nvSpPr>
          <p:cNvPr id="11" name="Shape 9"/>
          <p:cNvSpPr/>
          <p:nvPr/>
        </p:nvSpPr>
        <p:spPr>
          <a:xfrm>
            <a:off x="3520440" y="2148840"/>
            <a:ext cx="822960" cy="822960"/>
          </a:xfrm>
          <a:prstGeom prst="arc">
            <a:avLst/>
          </a:prstGeom>
          <a:solidFill>
            <a:srgbClr val="FFF0E8">
              <a:alpha val="0"/>
            </a:srgbClr>
          </a:solidFill>
          <a:ln w="38100">
            <a:solidFill>
              <a:srgbClr val="EA580C"/>
            </a:solidFill>
            <a:prstDash val="solid"/>
          </a:ln>
        </p:spPr>
      </p:sp>
      <p:sp>
        <p:nvSpPr>
          <p:cNvPr id="12" name="Text 10"/>
          <p:cNvSpPr/>
          <p:nvPr/>
        </p:nvSpPr>
        <p:spPr>
          <a:xfrm>
            <a:off x="3703320" y="2414016"/>
            <a:ext cx="457200" cy="201168"/>
          </a:xfrm>
          <a:prstGeom prst="rect">
            <a:avLst/>
          </a:prstGeom>
          <a:noFill/>
          <a:ln/>
        </p:spPr>
        <p:txBody>
          <a:bodyPr wrap="square" lIns="0" tIns="0" rIns="0" bIns="0" rtlCol="0" anchor="ctr"/>
          <a:lstStyle/>
          <a:p>
            <a:pPr algn="ctr" indent="0" marL="0">
              <a:buNone/>
            </a:pPr>
            <a:r>
              <a:rPr lang="en-US" sz="1400" b="1" dirty="0">
                <a:solidFill>
                  <a:srgbClr val="EA580C"/>
                </a:solidFill>
              </a:rPr>
              <a:t>2</a:t>
            </a:r>
            <a:endParaRPr lang="en-US" sz="1400" dirty="0"/>
          </a:p>
        </p:txBody>
      </p:sp>
      <p:sp>
        <p:nvSpPr>
          <p:cNvPr id="13" name="Text 11"/>
          <p:cNvSpPr/>
          <p:nvPr/>
        </p:nvSpPr>
        <p:spPr>
          <a:xfrm>
            <a:off x="3273552" y="3273552"/>
            <a:ext cx="1325880" cy="749808"/>
          </a:xfrm>
          <a:prstGeom prst="rect">
            <a:avLst/>
          </a:prstGeom>
          <a:noFill/>
          <a:ln/>
        </p:spPr>
        <p:txBody>
          <a:bodyPr wrap="square" lIns="0" tIns="0" rIns="0" bIns="0" rtlCol="0" anchor="ctr">
            <a:normAutofit/>
          </a:bodyPr>
          <a:lstStyle/>
          <a:p>
            <a:pPr algn="ctr" indent="0" marL="0">
              <a:buNone/>
            </a:pPr>
            <a:r>
              <a:rPr lang="en-US" sz="840" dirty="0">
                <a:solidFill>
                  <a:srgbClr val="475569"/>
                </a:solidFill>
              </a:rPr>
              <a:t>Payment accuracy</a:t>
            </a:r>
            <a:endParaRPr lang="en-US" sz="840" dirty="0"/>
          </a:p>
          <a:p>
            <a:pPr algn="ctr" indent="0" marL="0">
              <a:buNone/>
            </a:pPr>
            <a:r>
              <a:rPr lang="en-US" sz="840" dirty="0">
                <a:solidFill>
                  <a:srgbClr val="475569"/>
                </a:solidFill>
              </a:rPr>
              <a:t>Recoveries</a:t>
            </a:r>
            <a:endParaRPr lang="en-US" sz="840" dirty="0"/>
          </a:p>
          <a:p>
            <a:pPr algn="ctr" indent="0" marL="0">
              <a:buNone/>
            </a:pPr>
            <a:r>
              <a:rPr lang="en-US" sz="840" dirty="0">
                <a:solidFill>
                  <a:srgbClr val="475569"/>
                </a:solidFill>
              </a:rPr>
              <a:t>Avoided payments</a:t>
            </a:r>
            <a:endParaRPr lang="en-US" sz="840" dirty="0"/>
          </a:p>
          <a:p>
            <a:pPr algn="ctr" indent="0" marL="0">
              <a:buNone/>
            </a:pPr>
            <a:r>
              <a:rPr lang="en-US" sz="840" dirty="0">
                <a:solidFill>
                  <a:srgbClr val="475569"/>
                </a:solidFill>
              </a:rPr>
              <a:t>Cost per claim</a:t>
            </a:r>
            <a:endParaRPr lang="en-US" sz="840" dirty="0"/>
          </a:p>
        </p:txBody>
      </p:sp>
      <p:sp>
        <p:nvSpPr>
          <p:cNvPr id="14" name="Shape 12"/>
          <p:cNvSpPr/>
          <p:nvPr/>
        </p:nvSpPr>
        <p:spPr>
          <a:xfrm>
            <a:off x="5303520" y="1417320"/>
            <a:ext cx="1828800" cy="3291840"/>
          </a:xfrm>
          <a:prstGeom prst="roundRect">
            <a:avLst>
              <a:gd name="adj" fmla="val 5000"/>
            </a:avLst>
          </a:prstGeom>
          <a:solidFill>
            <a:srgbClr val="EAF7F0"/>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15" name="Text 13"/>
          <p:cNvSpPr/>
          <p:nvPr/>
        </p:nvSpPr>
        <p:spPr>
          <a:xfrm>
            <a:off x="5431536" y="1682496"/>
            <a:ext cx="1554480" cy="228600"/>
          </a:xfrm>
          <a:prstGeom prst="rect">
            <a:avLst/>
          </a:prstGeom>
          <a:noFill/>
          <a:ln/>
        </p:spPr>
        <p:txBody>
          <a:bodyPr wrap="square" lIns="0" tIns="0" rIns="0" bIns="0" rtlCol="0" anchor="ctr"/>
          <a:lstStyle/>
          <a:p>
            <a:pPr algn="ctr" indent="0" marL="0">
              <a:buNone/>
            </a:pPr>
            <a:r>
              <a:rPr lang="en-US" sz="1300" b="1" dirty="0">
                <a:solidFill>
                  <a:srgbClr val="13233A"/>
                </a:solidFill>
              </a:rPr>
              <a:t>Clinical</a:t>
            </a:r>
            <a:endParaRPr lang="en-US" sz="1300" dirty="0"/>
          </a:p>
        </p:txBody>
      </p:sp>
      <p:sp>
        <p:nvSpPr>
          <p:cNvPr id="16" name="Shape 14"/>
          <p:cNvSpPr/>
          <p:nvPr/>
        </p:nvSpPr>
        <p:spPr>
          <a:xfrm>
            <a:off x="5806440" y="2148840"/>
            <a:ext cx="822960" cy="822960"/>
          </a:xfrm>
          <a:prstGeom prst="arc">
            <a:avLst/>
          </a:prstGeom>
          <a:solidFill>
            <a:srgbClr val="EAF7F0">
              <a:alpha val="0"/>
            </a:srgbClr>
          </a:solidFill>
          <a:ln w="38100">
            <a:solidFill>
              <a:srgbClr val="16A34A"/>
            </a:solidFill>
            <a:prstDash val="solid"/>
          </a:ln>
        </p:spPr>
      </p:sp>
      <p:sp>
        <p:nvSpPr>
          <p:cNvPr id="17" name="Text 15"/>
          <p:cNvSpPr/>
          <p:nvPr/>
        </p:nvSpPr>
        <p:spPr>
          <a:xfrm>
            <a:off x="5989320" y="2414016"/>
            <a:ext cx="457200" cy="201168"/>
          </a:xfrm>
          <a:prstGeom prst="rect">
            <a:avLst/>
          </a:prstGeom>
          <a:noFill/>
          <a:ln/>
        </p:spPr>
        <p:txBody>
          <a:bodyPr wrap="square" lIns="0" tIns="0" rIns="0" bIns="0" rtlCol="0" anchor="ctr"/>
          <a:lstStyle/>
          <a:p>
            <a:pPr algn="ctr" indent="0" marL="0">
              <a:buNone/>
            </a:pPr>
            <a:r>
              <a:rPr lang="en-US" sz="1400" b="1" dirty="0">
                <a:solidFill>
                  <a:srgbClr val="16A34A"/>
                </a:solidFill>
              </a:rPr>
              <a:t>3</a:t>
            </a:r>
            <a:endParaRPr lang="en-US" sz="1400" dirty="0"/>
          </a:p>
        </p:txBody>
      </p:sp>
      <p:sp>
        <p:nvSpPr>
          <p:cNvPr id="18" name="Text 16"/>
          <p:cNvSpPr/>
          <p:nvPr/>
        </p:nvSpPr>
        <p:spPr>
          <a:xfrm>
            <a:off x="5559552" y="3273552"/>
            <a:ext cx="1325880" cy="749808"/>
          </a:xfrm>
          <a:prstGeom prst="rect">
            <a:avLst/>
          </a:prstGeom>
          <a:noFill/>
          <a:ln/>
        </p:spPr>
        <p:txBody>
          <a:bodyPr wrap="square" lIns="0" tIns="0" rIns="0" bIns="0" rtlCol="0" anchor="ctr">
            <a:normAutofit/>
          </a:bodyPr>
          <a:lstStyle/>
          <a:p>
            <a:pPr algn="ctr" indent="0" marL="0">
              <a:buNone/>
            </a:pPr>
            <a:r>
              <a:rPr lang="en-US" sz="840" dirty="0">
                <a:solidFill>
                  <a:srgbClr val="475569"/>
                </a:solidFill>
              </a:rPr>
              <a:t>Care-gap closure</a:t>
            </a:r>
            <a:endParaRPr lang="en-US" sz="840" dirty="0"/>
          </a:p>
          <a:p>
            <a:pPr algn="ctr" indent="0" marL="0">
              <a:buNone/>
            </a:pPr>
            <a:r>
              <a:rPr lang="en-US" sz="840" dirty="0">
                <a:solidFill>
                  <a:srgbClr val="475569"/>
                </a:solidFill>
              </a:rPr>
              <a:t>Readmission rate</a:t>
            </a:r>
            <a:endParaRPr lang="en-US" sz="840" dirty="0"/>
          </a:p>
          <a:p>
            <a:pPr algn="ctr" indent="0" marL="0">
              <a:buNone/>
            </a:pPr>
            <a:r>
              <a:rPr lang="en-US" sz="840" dirty="0">
                <a:solidFill>
                  <a:srgbClr val="475569"/>
                </a:solidFill>
              </a:rPr>
              <a:t>UM overturn rate</a:t>
            </a:r>
            <a:endParaRPr lang="en-US" sz="840" dirty="0"/>
          </a:p>
          <a:p>
            <a:pPr algn="ctr" indent="0" marL="0">
              <a:buNone/>
            </a:pPr>
            <a:r>
              <a:rPr lang="en-US" sz="840" dirty="0">
                <a:solidFill>
                  <a:srgbClr val="475569"/>
                </a:solidFill>
              </a:rPr>
              <a:t>Outreach success</a:t>
            </a:r>
            <a:endParaRPr lang="en-US" sz="840" dirty="0"/>
          </a:p>
        </p:txBody>
      </p:sp>
      <p:sp>
        <p:nvSpPr>
          <p:cNvPr id="19" name="Shape 17"/>
          <p:cNvSpPr/>
          <p:nvPr/>
        </p:nvSpPr>
        <p:spPr>
          <a:xfrm>
            <a:off x="7589520" y="1417320"/>
            <a:ext cx="1828800" cy="3291840"/>
          </a:xfrm>
          <a:prstGeom prst="roundRect">
            <a:avLst>
              <a:gd name="adj" fmla="val 5000"/>
            </a:avLst>
          </a:prstGeom>
          <a:solidFill>
            <a:srgbClr val="F3ED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20" name="Text 18"/>
          <p:cNvSpPr/>
          <p:nvPr/>
        </p:nvSpPr>
        <p:spPr>
          <a:xfrm>
            <a:off x="7717536" y="1682496"/>
            <a:ext cx="1554480" cy="228600"/>
          </a:xfrm>
          <a:prstGeom prst="rect">
            <a:avLst/>
          </a:prstGeom>
          <a:noFill/>
          <a:ln/>
        </p:spPr>
        <p:txBody>
          <a:bodyPr wrap="square" lIns="0" tIns="0" rIns="0" bIns="0" rtlCol="0" anchor="ctr"/>
          <a:lstStyle/>
          <a:p>
            <a:pPr algn="ctr" indent="0" marL="0">
              <a:buNone/>
            </a:pPr>
            <a:r>
              <a:rPr lang="en-US" sz="1300" b="1" dirty="0">
                <a:solidFill>
                  <a:srgbClr val="13233A"/>
                </a:solidFill>
              </a:rPr>
              <a:t>Compliance</a:t>
            </a:r>
            <a:endParaRPr lang="en-US" sz="1300" dirty="0"/>
          </a:p>
        </p:txBody>
      </p:sp>
      <p:sp>
        <p:nvSpPr>
          <p:cNvPr id="21" name="Shape 19"/>
          <p:cNvSpPr/>
          <p:nvPr/>
        </p:nvSpPr>
        <p:spPr>
          <a:xfrm>
            <a:off x="8092440" y="2148840"/>
            <a:ext cx="822960" cy="822960"/>
          </a:xfrm>
          <a:prstGeom prst="arc">
            <a:avLst/>
          </a:prstGeom>
          <a:solidFill>
            <a:srgbClr val="F3EDFF">
              <a:alpha val="0"/>
            </a:srgbClr>
          </a:solidFill>
          <a:ln w="38100">
            <a:solidFill>
              <a:srgbClr val="7C3AED"/>
            </a:solidFill>
            <a:prstDash val="solid"/>
          </a:ln>
        </p:spPr>
      </p:sp>
      <p:sp>
        <p:nvSpPr>
          <p:cNvPr id="22" name="Text 20"/>
          <p:cNvSpPr/>
          <p:nvPr/>
        </p:nvSpPr>
        <p:spPr>
          <a:xfrm>
            <a:off x="8275320" y="2414016"/>
            <a:ext cx="457200" cy="201168"/>
          </a:xfrm>
          <a:prstGeom prst="rect">
            <a:avLst/>
          </a:prstGeom>
          <a:noFill/>
          <a:ln/>
        </p:spPr>
        <p:txBody>
          <a:bodyPr wrap="square" lIns="0" tIns="0" rIns="0" bIns="0" rtlCol="0" anchor="ctr"/>
          <a:lstStyle/>
          <a:p>
            <a:pPr algn="ctr" indent="0" marL="0">
              <a:buNone/>
            </a:pPr>
            <a:r>
              <a:rPr lang="en-US" sz="1400" b="1" dirty="0">
                <a:solidFill>
                  <a:srgbClr val="7C3AED"/>
                </a:solidFill>
              </a:rPr>
              <a:t>4</a:t>
            </a:r>
            <a:endParaRPr lang="en-US" sz="1400" dirty="0"/>
          </a:p>
        </p:txBody>
      </p:sp>
      <p:sp>
        <p:nvSpPr>
          <p:cNvPr id="23" name="Text 21"/>
          <p:cNvSpPr/>
          <p:nvPr/>
        </p:nvSpPr>
        <p:spPr>
          <a:xfrm>
            <a:off x="7845552" y="3273552"/>
            <a:ext cx="1325880" cy="749808"/>
          </a:xfrm>
          <a:prstGeom prst="rect">
            <a:avLst/>
          </a:prstGeom>
          <a:noFill/>
          <a:ln/>
        </p:spPr>
        <p:txBody>
          <a:bodyPr wrap="square" lIns="0" tIns="0" rIns="0" bIns="0" rtlCol="0" anchor="ctr">
            <a:normAutofit/>
          </a:bodyPr>
          <a:lstStyle/>
          <a:p>
            <a:pPr algn="ctr" indent="0" marL="0">
              <a:buNone/>
            </a:pPr>
            <a:r>
              <a:rPr lang="en-US" sz="840" dirty="0">
                <a:solidFill>
                  <a:srgbClr val="475569"/>
                </a:solidFill>
              </a:rPr>
              <a:t>CMS acceptance</a:t>
            </a:r>
            <a:endParaRPr lang="en-US" sz="840" dirty="0"/>
          </a:p>
          <a:p>
            <a:pPr algn="ctr" indent="0" marL="0">
              <a:buNone/>
            </a:pPr>
            <a:r>
              <a:rPr lang="en-US" sz="840" dirty="0">
                <a:solidFill>
                  <a:srgbClr val="475569"/>
                </a:solidFill>
              </a:rPr>
              <a:t>Audit exceptions</a:t>
            </a:r>
            <a:endParaRPr lang="en-US" sz="840" dirty="0"/>
          </a:p>
          <a:p>
            <a:pPr algn="ctr" indent="0" marL="0">
              <a:buNone/>
            </a:pPr>
            <a:r>
              <a:rPr lang="en-US" sz="840" dirty="0">
                <a:solidFill>
                  <a:srgbClr val="475569"/>
                </a:solidFill>
              </a:rPr>
              <a:t>SLA compliance</a:t>
            </a:r>
            <a:endParaRPr lang="en-US" sz="840" dirty="0"/>
          </a:p>
          <a:p>
            <a:pPr algn="ctr" indent="0" marL="0">
              <a:buNone/>
            </a:pPr>
            <a:r>
              <a:rPr lang="en-US" sz="840" dirty="0">
                <a:solidFill>
                  <a:srgbClr val="475569"/>
                </a:solidFill>
              </a:rPr>
              <a:t>Model traceability</a:t>
            </a:r>
            <a:endParaRPr lang="en-US" sz="840" dirty="0"/>
          </a:p>
        </p:txBody>
      </p:sp>
      <p:sp>
        <p:nvSpPr>
          <p:cNvPr id="24" name="Shape 22"/>
          <p:cNvSpPr/>
          <p:nvPr/>
        </p:nvSpPr>
        <p:spPr>
          <a:xfrm>
            <a:off x="9875520" y="1417320"/>
            <a:ext cx="1828800" cy="3291840"/>
          </a:xfrm>
          <a:prstGeom prst="roundRect">
            <a:avLst>
              <a:gd name="adj" fmla="val 5000"/>
            </a:avLst>
          </a:prstGeom>
          <a:solidFill>
            <a:srgbClr val="E9F7F5"/>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25" name="Text 23"/>
          <p:cNvSpPr/>
          <p:nvPr/>
        </p:nvSpPr>
        <p:spPr>
          <a:xfrm>
            <a:off x="10003536" y="1682496"/>
            <a:ext cx="1554480" cy="228600"/>
          </a:xfrm>
          <a:prstGeom prst="rect">
            <a:avLst/>
          </a:prstGeom>
          <a:noFill/>
          <a:ln/>
        </p:spPr>
        <p:txBody>
          <a:bodyPr wrap="square" lIns="0" tIns="0" rIns="0" bIns="0" rtlCol="0" anchor="ctr"/>
          <a:lstStyle/>
          <a:p>
            <a:pPr algn="ctr" indent="0" marL="0">
              <a:buNone/>
            </a:pPr>
            <a:r>
              <a:rPr lang="en-US" sz="1300" b="1" dirty="0">
                <a:solidFill>
                  <a:srgbClr val="13233A"/>
                </a:solidFill>
              </a:rPr>
              <a:t>Technology</a:t>
            </a:r>
            <a:endParaRPr lang="en-US" sz="1300" dirty="0"/>
          </a:p>
        </p:txBody>
      </p:sp>
      <p:sp>
        <p:nvSpPr>
          <p:cNvPr id="26" name="Shape 24"/>
          <p:cNvSpPr/>
          <p:nvPr/>
        </p:nvSpPr>
        <p:spPr>
          <a:xfrm>
            <a:off x="10378440" y="2148840"/>
            <a:ext cx="822960" cy="822960"/>
          </a:xfrm>
          <a:prstGeom prst="arc">
            <a:avLst/>
          </a:prstGeom>
          <a:solidFill>
            <a:srgbClr val="E9F7F5">
              <a:alpha val="0"/>
            </a:srgbClr>
          </a:solidFill>
          <a:ln w="38100">
            <a:solidFill>
              <a:srgbClr val="0F766E"/>
            </a:solidFill>
            <a:prstDash val="solid"/>
          </a:ln>
        </p:spPr>
      </p:sp>
      <p:sp>
        <p:nvSpPr>
          <p:cNvPr id="27" name="Text 25"/>
          <p:cNvSpPr/>
          <p:nvPr/>
        </p:nvSpPr>
        <p:spPr>
          <a:xfrm>
            <a:off x="10561320" y="2414016"/>
            <a:ext cx="457200" cy="201168"/>
          </a:xfrm>
          <a:prstGeom prst="rect">
            <a:avLst/>
          </a:prstGeom>
          <a:noFill/>
          <a:ln/>
        </p:spPr>
        <p:txBody>
          <a:bodyPr wrap="square" lIns="0" tIns="0" rIns="0" bIns="0" rtlCol="0" anchor="ctr"/>
          <a:lstStyle/>
          <a:p>
            <a:pPr algn="ctr" indent="0" marL="0">
              <a:buNone/>
            </a:pPr>
            <a:r>
              <a:rPr lang="en-US" sz="1400" b="1" dirty="0">
                <a:solidFill>
                  <a:srgbClr val="0F766E"/>
                </a:solidFill>
              </a:rPr>
              <a:t>5</a:t>
            </a:r>
            <a:endParaRPr lang="en-US" sz="1400" dirty="0"/>
          </a:p>
        </p:txBody>
      </p:sp>
      <p:sp>
        <p:nvSpPr>
          <p:cNvPr id="28" name="Text 26"/>
          <p:cNvSpPr/>
          <p:nvPr/>
        </p:nvSpPr>
        <p:spPr>
          <a:xfrm>
            <a:off x="10131552" y="3273552"/>
            <a:ext cx="1325880" cy="749808"/>
          </a:xfrm>
          <a:prstGeom prst="rect">
            <a:avLst/>
          </a:prstGeom>
          <a:noFill/>
          <a:ln/>
        </p:spPr>
        <p:txBody>
          <a:bodyPr wrap="square" lIns="0" tIns="0" rIns="0" bIns="0" rtlCol="0" anchor="ctr">
            <a:normAutofit/>
          </a:bodyPr>
          <a:lstStyle/>
          <a:p>
            <a:pPr algn="ctr" indent="0" marL="0">
              <a:buNone/>
            </a:pPr>
            <a:r>
              <a:rPr lang="en-US" sz="840" dirty="0">
                <a:solidFill>
                  <a:srgbClr val="475569"/>
                </a:solidFill>
              </a:rPr>
              <a:t>API uptime</a:t>
            </a:r>
            <a:endParaRPr lang="en-US" sz="840" dirty="0"/>
          </a:p>
          <a:p>
            <a:pPr algn="ctr" indent="0" marL="0">
              <a:buNone/>
            </a:pPr>
            <a:r>
              <a:rPr lang="en-US" sz="840" dirty="0">
                <a:solidFill>
                  <a:srgbClr val="475569"/>
                </a:solidFill>
              </a:rPr>
              <a:t>Pipeline freshness</a:t>
            </a:r>
            <a:endParaRPr lang="en-US" sz="840" dirty="0"/>
          </a:p>
          <a:p>
            <a:pPr algn="ctr" indent="0" marL="0">
              <a:buNone/>
            </a:pPr>
            <a:r>
              <a:rPr lang="en-US" sz="840" dirty="0">
                <a:solidFill>
                  <a:srgbClr val="475569"/>
                </a:solidFill>
              </a:rPr>
              <a:t>HL7 throughput</a:t>
            </a:r>
            <a:endParaRPr lang="en-US" sz="840" dirty="0"/>
          </a:p>
          <a:p>
            <a:pPr algn="ctr" indent="0" marL="0">
              <a:buNone/>
            </a:pPr>
            <a:r>
              <a:rPr lang="en-US" sz="840" dirty="0">
                <a:solidFill>
                  <a:srgbClr val="475569"/>
                </a:solidFill>
              </a:rPr>
              <a:t>Model accuracy</a:t>
            </a:r>
            <a:endParaRPr lang="en-US" sz="840" dirty="0"/>
          </a:p>
        </p:txBody>
      </p:sp>
      <p:sp>
        <p:nvSpPr>
          <p:cNvPr id="29" name="Shape 27"/>
          <p:cNvSpPr/>
          <p:nvPr/>
        </p:nvSpPr>
        <p:spPr>
          <a:xfrm>
            <a:off x="1874520" y="5394960"/>
            <a:ext cx="8412480" cy="566928"/>
          </a:xfrm>
          <a:prstGeom prst="roundRect">
            <a:avLst>
              <a:gd name="adj" fmla="val 16129"/>
            </a:avLst>
          </a:prstGeom>
          <a:solidFill>
            <a:srgbClr val="FFFF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30" name="Text 28"/>
          <p:cNvSpPr/>
          <p:nvPr/>
        </p:nvSpPr>
        <p:spPr>
          <a:xfrm>
            <a:off x="2121408" y="5596128"/>
            <a:ext cx="7918704" cy="164592"/>
          </a:xfrm>
          <a:prstGeom prst="rect">
            <a:avLst/>
          </a:prstGeom>
          <a:noFill/>
          <a:ln/>
        </p:spPr>
        <p:txBody>
          <a:bodyPr wrap="square" lIns="0" tIns="0" rIns="0" bIns="0" rtlCol="0" anchor="ctr">
            <a:normAutofit/>
          </a:bodyPr>
          <a:lstStyle/>
          <a:p>
            <a:pPr algn="ctr" indent="0" marL="0">
              <a:buNone/>
            </a:pPr>
            <a:r>
              <a:rPr lang="en-US" sz="1080" b="1" dirty="0">
                <a:solidFill>
                  <a:srgbClr val="13233A"/>
                </a:solidFill>
              </a:rPr>
              <a:t>Executive rule: every product capability should have a business KPI, an operational KPI, a quality KPI, and a technology KPI.</a:t>
            </a:r>
            <a:endParaRPr lang="en-US" sz="108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AI enablement layer: where intelligence creates measurable value</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AI should reduce cognitive load, improve routing, detect exceptions and strengthen governance.</a:t>
            </a:r>
            <a:endParaRPr lang="en-US" sz="950" dirty="0"/>
          </a:p>
        </p:txBody>
      </p:sp>
      <p:sp>
        <p:nvSpPr>
          <p:cNvPr id="4" name="Shape 2"/>
          <p:cNvSpPr/>
          <p:nvPr/>
        </p:nvSpPr>
        <p:spPr>
          <a:xfrm>
            <a:off x="777240" y="1417320"/>
            <a:ext cx="2286000" cy="3383280"/>
          </a:xfrm>
          <a:prstGeom prst="roundRect">
            <a:avLst>
              <a:gd name="adj" fmla="val 4000"/>
            </a:avLst>
          </a:prstGeom>
          <a:solidFill>
            <a:srgbClr val="EAF2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932688" y="1719072"/>
            <a:ext cx="1975104" cy="320040"/>
          </a:xfrm>
          <a:prstGeom prst="rect">
            <a:avLst/>
          </a:prstGeom>
          <a:noFill/>
          <a:ln/>
        </p:spPr>
        <p:txBody>
          <a:bodyPr wrap="square" lIns="0" tIns="0" rIns="0" bIns="0" rtlCol="0" anchor="ctr"/>
          <a:lstStyle/>
          <a:p>
            <a:pPr algn="ctr" indent="0" marL="0">
              <a:buNone/>
            </a:pPr>
            <a:r>
              <a:rPr lang="en-US" sz="1800" b="1" dirty="0">
                <a:solidFill>
                  <a:srgbClr val="2563EB"/>
                </a:solidFill>
              </a:rPr>
              <a:t>Assist</a:t>
            </a:r>
            <a:endParaRPr lang="en-US" sz="1800" dirty="0"/>
          </a:p>
        </p:txBody>
      </p:sp>
      <p:sp>
        <p:nvSpPr>
          <p:cNvPr id="6" name="Text 4"/>
          <p:cNvSpPr/>
          <p:nvPr/>
        </p:nvSpPr>
        <p:spPr>
          <a:xfrm>
            <a:off x="1033272" y="2578608"/>
            <a:ext cx="1783080" cy="1417320"/>
          </a:xfrm>
          <a:prstGeom prst="rect">
            <a:avLst/>
          </a:prstGeom>
          <a:noFill/>
          <a:ln/>
        </p:spPr>
        <p:txBody>
          <a:bodyPr wrap="square" lIns="127" tIns="127" rIns="127" bIns="127" rtlCol="0" anchor="ctr">
            <a:normAutofit/>
          </a:bodyPr>
          <a:lstStyle/>
          <a:p>
            <a:pPr algn="ctr" indent="0" marL="0">
              <a:buNone/>
            </a:pPr>
            <a:r>
              <a:rPr lang="en-US" sz="1000" dirty="0">
                <a:solidFill>
                  <a:srgbClr val="13233A"/>
                </a:solidFill>
              </a:rPr>
              <a:t>Summarize evidence</a:t>
            </a:r>
            <a:endParaRPr lang="en-US" sz="1000" dirty="0"/>
          </a:p>
          <a:p>
            <a:pPr algn="ctr" indent="0" marL="0">
              <a:buNone/>
            </a:pPr>
            <a:r>
              <a:rPr lang="en-US" sz="1000" dirty="0">
                <a:solidFill>
                  <a:srgbClr val="13233A"/>
                </a:solidFill>
              </a:rPr>
              <a:t>Classify documents</a:t>
            </a:r>
            <a:endParaRPr lang="en-US" sz="1000" dirty="0"/>
          </a:p>
          <a:p>
            <a:pPr algn="ctr" indent="0" marL="0">
              <a:buNone/>
            </a:pPr>
            <a:r>
              <a:rPr lang="en-US" sz="1000" dirty="0">
                <a:solidFill>
                  <a:srgbClr val="13233A"/>
                </a:solidFill>
              </a:rPr>
              <a:t>Draft letters</a:t>
            </a:r>
            <a:endParaRPr lang="en-US" sz="1000" dirty="0"/>
          </a:p>
          <a:p>
            <a:pPr algn="ctr" indent="0" marL="0">
              <a:buNone/>
            </a:pPr>
            <a:r>
              <a:rPr lang="en-US" sz="1000" dirty="0">
                <a:solidFill>
                  <a:srgbClr val="13233A"/>
                </a:solidFill>
              </a:rPr>
              <a:t>Answer policy questions</a:t>
            </a:r>
            <a:endParaRPr lang="en-US" sz="1000" dirty="0"/>
          </a:p>
        </p:txBody>
      </p:sp>
      <p:sp>
        <p:nvSpPr>
          <p:cNvPr id="7" name="Shape 5"/>
          <p:cNvSpPr/>
          <p:nvPr/>
        </p:nvSpPr>
        <p:spPr>
          <a:xfrm>
            <a:off x="3099816" y="3127248"/>
            <a:ext cx="420624" cy="0"/>
          </a:xfrm>
          <a:prstGeom prst="line">
            <a:avLst/>
          </a:prstGeom>
          <a:noFill/>
          <a:ln w="20320">
            <a:solidFill>
              <a:srgbClr val="9AA8BA"/>
            </a:solidFill>
            <a:prstDash val="solid"/>
            <a:headEnd type="none"/>
            <a:tailEnd type="triangle"/>
          </a:ln>
        </p:spPr>
      </p:sp>
      <p:sp>
        <p:nvSpPr>
          <p:cNvPr id="8" name="Shape 6"/>
          <p:cNvSpPr/>
          <p:nvPr/>
        </p:nvSpPr>
        <p:spPr>
          <a:xfrm>
            <a:off x="3593592" y="1417320"/>
            <a:ext cx="2286000" cy="3383280"/>
          </a:xfrm>
          <a:prstGeom prst="roundRect">
            <a:avLst>
              <a:gd name="adj" fmla="val 4000"/>
            </a:avLst>
          </a:prstGeom>
          <a:solidFill>
            <a:srgbClr val="F3ED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9" name="Text 7"/>
          <p:cNvSpPr/>
          <p:nvPr/>
        </p:nvSpPr>
        <p:spPr>
          <a:xfrm>
            <a:off x="3749040" y="1719072"/>
            <a:ext cx="1975104" cy="320040"/>
          </a:xfrm>
          <a:prstGeom prst="rect">
            <a:avLst/>
          </a:prstGeom>
          <a:noFill/>
          <a:ln/>
        </p:spPr>
        <p:txBody>
          <a:bodyPr wrap="square" lIns="0" tIns="0" rIns="0" bIns="0" rtlCol="0" anchor="ctr"/>
          <a:lstStyle/>
          <a:p>
            <a:pPr algn="ctr" indent="0" marL="0">
              <a:buNone/>
            </a:pPr>
            <a:r>
              <a:rPr lang="en-US" sz="1800" b="1" dirty="0">
                <a:solidFill>
                  <a:srgbClr val="7C3AED"/>
                </a:solidFill>
              </a:rPr>
              <a:t>Prioritize</a:t>
            </a:r>
            <a:endParaRPr lang="en-US" sz="1800" dirty="0"/>
          </a:p>
        </p:txBody>
      </p:sp>
      <p:sp>
        <p:nvSpPr>
          <p:cNvPr id="10" name="Text 8"/>
          <p:cNvSpPr/>
          <p:nvPr/>
        </p:nvSpPr>
        <p:spPr>
          <a:xfrm>
            <a:off x="3849624" y="2578608"/>
            <a:ext cx="1783080" cy="1417320"/>
          </a:xfrm>
          <a:prstGeom prst="rect">
            <a:avLst/>
          </a:prstGeom>
          <a:noFill/>
          <a:ln/>
        </p:spPr>
        <p:txBody>
          <a:bodyPr wrap="square" lIns="127" tIns="127" rIns="127" bIns="127" rtlCol="0" anchor="ctr">
            <a:normAutofit/>
          </a:bodyPr>
          <a:lstStyle/>
          <a:p>
            <a:pPr algn="ctr" indent="0" marL="0">
              <a:buNone/>
            </a:pPr>
            <a:r>
              <a:rPr lang="en-US" sz="1000" dirty="0">
                <a:solidFill>
                  <a:srgbClr val="13233A"/>
                </a:solidFill>
              </a:rPr>
              <a:t>Complexity scoring</a:t>
            </a:r>
            <a:endParaRPr lang="en-US" sz="1000" dirty="0"/>
          </a:p>
          <a:p>
            <a:pPr algn="ctr" indent="0" marL="0">
              <a:buNone/>
            </a:pPr>
            <a:r>
              <a:rPr lang="en-US" sz="1000" dirty="0">
                <a:solidFill>
                  <a:srgbClr val="13233A"/>
                </a:solidFill>
              </a:rPr>
              <a:t>Claim routing</a:t>
            </a:r>
            <a:endParaRPr lang="en-US" sz="1000" dirty="0"/>
          </a:p>
          <a:p>
            <a:pPr algn="ctr" indent="0" marL="0">
              <a:buNone/>
            </a:pPr>
            <a:r>
              <a:rPr lang="en-US" sz="1000" dirty="0">
                <a:solidFill>
                  <a:srgbClr val="13233A"/>
                </a:solidFill>
              </a:rPr>
              <a:t>Appeal triage</a:t>
            </a:r>
            <a:endParaRPr lang="en-US" sz="1000" dirty="0"/>
          </a:p>
          <a:p>
            <a:pPr algn="ctr" indent="0" marL="0">
              <a:buNone/>
            </a:pPr>
            <a:r>
              <a:rPr lang="en-US" sz="1000" dirty="0">
                <a:solidFill>
                  <a:srgbClr val="13233A"/>
                </a:solidFill>
              </a:rPr>
              <a:t>Care-gap prioritization</a:t>
            </a:r>
            <a:endParaRPr lang="en-US" sz="1000" dirty="0"/>
          </a:p>
        </p:txBody>
      </p:sp>
      <p:sp>
        <p:nvSpPr>
          <p:cNvPr id="11" name="Shape 9"/>
          <p:cNvSpPr/>
          <p:nvPr/>
        </p:nvSpPr>
        <p:spPr>
          <a:xfrm>
            <a:off x="5916168" y="3127248"/>
            <a:ext cx="420624" cy="0"/>
          </a:xfrm>
          <a:prstGeom prst="line">
            <a:avLst/>
          </a:prstGeom>
          <a:noFill/>
          <a:ln w="20320">
            <a:solidFill>
              <a:srgbClr val="9AA8BA"/>
            </a:solidFill>
            <a:prstDash val="solid"/>
            <a:headEnd type="none"/>
            <a:tailEnd type="triangle"/>
          </a:ln>
        </p:spPr>
      </p:sp>
      <p:sp>
        <p:nvSpPr>
          <p:cNvPr id="12" name="Shape 10"/>
          <p:cNvSpPr/>
          <p:nvPr/>
        </p:nvSpPr>
        <p:spPr>
          <a:xfrm>
            <a:off x="6409944" y="1417320"/>
            <a:ext cx="2286000" cy="3383280"/>
          </a:xfrm>
          <a:prstGeom prst="roundRect">
            <a:avLst>
              <a:gd name="adj" fmla="val 4000"/>
            </a:avLst>
          </a:prstGeom>
          <a:solidFill>
            <a:srgbClr val="FFF0E8"/>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13" name="Text 11"/>
          <p:cNvSpPr/>
          <p:nvPr/>
        </p:nvSpPr>
        <p:spPr>
          <a:xfrm>
            <a:off x="6565392" y="1719072"/>
            <a:ext cx="1975104" cy="320040"/>
          </a:xfrm>
          <a:prstGeom prst="rect">
            <a:avLst/>
          </a:prstGeom>
          <a:noFill/>
          <a:ln/>
        </p:spPr>
        <p:txBody>
          <a:bodyPr wrap="square" lIns="0" tIns="0" rIns="0" bIns="0" rtlCol="0" anchor="ctr"/>
          <a:lstStyle/>
          <a:p>
            <a:pPr algn="ctr" indent="0" marL="0">
              <a:buNone/>
            </a:pPr>
            <a:r>
              <a:rPr lang="en-US" sz="1800" b="1" dirty="0">
                <a:solidFill>
                  <a:srgbClr val="EA580C"/>
                </a:solidFill>
              </a:rPr>
              <a:t>Detect</a:t>
            </a:r>
            <a:endParaRPr lang="en-US" sz="1800" dirty="0"/>
          </a:p>
        </p:txBody>
      </p:sp>
      <p:sp>
        <p:nvSpPr>
          <p:cNvPr id="14" name="Text 12"/>
          <p:cNvSpPr/>
          <p:nvPr/>
        </p:nvSpPr>
        <p:spPr>
          <a:xfrm>
            <a:off x="6665976" y="2578608"/>
            <a:ext cx="1783080" cy="1417320"/>
          </a:xfrm>
          <a:prstGeom prst="rect">
            <a:avLst/>
          </a:prstGeom>
          <a:noFill/>
          <a:ln/>
        </p:spPr>
        <p:txBody>
          <a:bodyPr wrap="square" lIns="127" tIns="127" rIns="127" bIns="127" rtlCol="0" anchor="ctr">
            <a:normAutofit/>
          </a:bodyPr>
          <a:lstStyle/>
          <a:p>
            <a:pPr algn="ctr" indent="0" marL="0">
              <a:buNone/>
            </a:pPr>
            <a:r>
              <a:rPr lang="en-US" sz="1000" dirty="0">
                <a:solidFill>
                  <a:srgbClr val="13233A"/>
                </a:solidFill>
              </a:rPr>
              <a:t>Duplicate claims</a:t>
            </a:r>
            <a:endParaRPr lang="en-US" sz="1000" dirty="0"/>
          </a:p>
          <a:p>
            <a:pPr algn="ctr" indent="0" marL="0">
              <a:buNone/>
            </a:pPr>
            <a:r>
              <a:rPr lang="en-US" sz="1000" dirty="0">
                <a:solidFill>
                  <a:srgbClr val="13233A"/>
                </a:solidFill>
              </a:rPr>
              <a:t>Payment anomalies</a:t>
            </a:r>
            <a:endParaRPr lang="en-US" sz="1000" dirty="0"/>
          </a:p>
          <a:p>
            <a:pPr algn="ctr" indent="0" marL="0">
              <a:buNone/>
            </a:pPr>
            <a:r>
              <a:rPr lang="en-US" sz="1000" dirty="0">
                <a:solidFill>
                  <a:srgbClr val="13233A"/>
                </a:solidFill>
              </a:rPr>
              <a:t>Missing documents</a:t>
            </a:r>
            <a:endParaRPr lang="en-US" sz="1000" dirty="0"/>
          </a:p>
          <a:p>
            <a:pPr algn="ctr" indent="0" marL="0">
              <a:buNone/>
            </a:pPr>
            <a:r>
              <a:rPr lang="en-US" sz="1000" dirty="0">
                <a:solidFill>
                  <a:srgbClr val="13233A"/>
                </a:solidFill>
              </a:rPr>
              <a:t>High-risk events</a:t>
            </a:r>
            <a:endParaRPr lang="en-US" sz="1000" dirty="0"/>
          </a:p>
        </p:txBody>
      </p:sp>
      <p:sp>
        <p:nvSpPr>
          <p:cNvPr id="15" name="Shape 13"/>
          <p:cNvSpPr/>
          <p:nvPr/>
        </p:nvSpPr>
        <p:spPr>
          <a:xfrm>
            <a:off x="8732520" y="3127248"/>
            <a:ext cx="420624" cy="0"/>
          </a:xfrm>
          <a:prstGeom prst="line">
            <a:avLst/>
          </a:prstGeom>
          <a:noFill/>
          <a:ln w="20320">
            <a:solidFill>
              <a:srgbClr val="9AA8BA"/>
            </a:solidFill>
            <a:prstDash val="solid"/>
            <a:headEnd type="none"/>
            <a:tailEnd type="triangle"/>
          </a:ln>
        </p:spPr>
      </p:sp>
      <p:sp>
        <p:nvSpPr>
          <p:cNvPr id="16" name="Shape 14"/>
          <p:cNvSpPr/>
          <p:nvPr/>
        </p:nvSpPr>
        <p:spPr>
          <a:xfrm>
            <a:off x="9226296" y="1417320"/>
            <a:ext cx="2286000" cy="3383280"/>
          </a:xfrm>
          <a:prstGeom prst="roundRect">
            <a:avLst>
              <a:gd name="adj" fmla="val 4000"/>
            </a:avLst>
          </a:prstGeom>
          <a:solidFill>
            <a:srgbClr val="EAF7F0"/>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17" name="Text 15"/>
          <p:cNvSpPr/>
          <p:nvPr/>
        </p:nvSpPr>
        <p:spPr>
          <a:xfrm>
            <a:off x="9381744" y="1719072"/>
            <a:ext cx="1975104" cy="320040"/>
          </a:xfrm>
          <a:prstGeom prst="rect">
            <a:avLst/>
          </a:prstGeom>
          <a:noFill/>
          <a:ln/>
        </p:spPr>
        <p:txBody>
          <a:bodyPr wrap="square" lIns="0" tIns="0" rIns="0" bIns="0" rtlCol="0" anchor="ctr"/>
          <a:lstStyle/>
          <a:p>
            <a:pPr algn="ctr" indent="0" marL="0">
              <a:buNone/>
            </a:pPr>
            <a:r>
              <a:rPr lang="en-US" sz="1800" b="1" dirty="0">
                <a:solidFill>
                  <a:srgbClr val="16A34A"/>
                </a:solidFill>
              </a:rPr>
              <a:t>Optimize</a:t>
            </a:r>
            <a:endParaRPr lang="en-US" sz="1800" dirty="0"/>
          </a:p>
        </p:txBody>
      </p:sp>
      <p:sp>
        <p:nvSpPr>
          <p:cNvPr id="18" name="Text 16"/>
          <p:cNvSpPr/>
          <p:nvPr/>
        </p:nvSpPr>
        <p:spPr>
          <a:xfrm>
            <a:off x="9482328" y="2578608"/>
            <a:ext cx="1783080" cy="1417320"/>
          </a:xfrm>
          <a:prstGeom prst="rect">
            <a:avLst/>
          </a:prstGeom>
          <a:noFill/>
          <a:ln/>
        </p:spPr>
        <p:txBody>
          <a:bodyPr wrap="square" lIns="127" tIns="127" rIns="127" bIns="127" rtlCol="0" anchor="ctr">
            <a:normAutofit/>
          </a:bodyPr>
          <a:lstStyle/>
          <a:p>
            <a:pPr algn="ctr" indent="0" marL="0">
              <a:buNone/>
            </a:pPr>
            <a:r>
              <a:rPr lang="en-US" sz="1000" dirty="0">
                <a:solidFill>
                  <a:srgbClr val="13233A"/>
                </a:solidFill>
              </a:rPr>
              <a:t>Capacity forecasts</a:t>
            </a:r>
            <a:endParaRPr lang="en-US" sz="1000" dirty="0"/>
          </a:p>
          <a:p>
            <a:pPr algn="ctr" indent="0" marL="0">
              <a:buNone/>
            </a:pPr>
            <a:r>
              <a:rPr lang="en-US" sz="1000" dirty="0">
                <a:solidFill>
                  <a:srgbClr val="13233A"/>
                </a:solidFill>
              </a:rPr>
              <a:t>Closed-loop learning</a:t>
            </a:r>
            <a:endParaRPr lang="en-US" sz="1000" dirty="0"/>
          </a:p>
          <a:p>
            <a:pPr algn="ctr" indent="0" marL="0">
              <a:buNone/>
            </a:pPr>
            <a:r>
              <a:rPr lang="en-US" sz="1000" dirty="0">
                <a:solidFill>
                  <a:srgbClr val="13233A"/>
                </a:solidFill>
              </a:rPr>
              <a:t>Policy impact analysis</a:t>
            </a:r>
            <a:endParaRPr lang="en-US" sz="1000" dirty="0"/>
          </a:p>
          <a:p>
            <a:pPr algn="ctr" indent="0" marL="0">
              <a:buNone/>
            </a:pPr>
            <a:r>
              <a:rPr lang="en-US" sz="1000" dirty="0">
                <a:solidFill>
                  <a:srgbClr val="13233A"/>
                </a:solidFill>
              </a:rPr>
              <a:t>Portfolio insights</a:t>
            </a:r>
            <a:endParaRPr lang="en-US" sz="1000" dirty="0"/>
          </a:p>
        </p:txBody>
      </p:sp>
      <p:sp>
        <p:nvSpPr>
          <p:cNvPr id="19" name="Text 17"/>
          <p:cNvSpPr/>
          <p:nvPr/>
        </p:nvSpPr>
        <p:spPr>
          <a:xfrm>
            <a:off x="1097280" y="5605272"/>
            <a:ext cx="9966960" cy="274320"/>
          </a:xfrm>
          <a:prstGeom prst="rect">
            <a:avLst/>
          </a:prstGeom>
          <a:noFill/>
          <a:ln/>
        </p:spPr>
        <p:txBody>
          <a:bodyPr wrap="square" lIns="0" tIns="0" rIns="0" bIns="0" rtlCol="0" anchor="ctr">
            <a:normAutofit/>
          </a:bodyPr>
          <a:lstStyle/>
          <a:p>
            <a:pPr algn="ctr" indent="0" marL="0">
              <a:buNone/>
            </a:pPr>
            <a:r>
              <a:rPr lang="en-US" sz="1220" b="1" dirty="0">
                <a:solidFill>
                  <a:srgbClr val="13233A"/>
                </a:solidFill>
              </a:rPr>
              <a:t>Guardrails: human-in-the-loop decisions · explainability · model monitoring · evidence lineage · auditability · policy controls</a:t>
            </a:r>
            <a:endParaRPr lang="en-US" sz="122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20040"/>
            <a:ext cx="8138160" cy="384048"/>
          </a:xfrm>
          <a:prstGeom prst="rect">
            <a:avLst/>
          </a:prstGeom>
          <a:noFill/>
          <a:ln/>
        </p:spPr>
        <p:txBody>
          <a:bodyPr wrap="square" lIns="0" tIns="0" rIns="0" bIns="0" rtlCol="0" anchor="ctr"/>
          <a:lstStyle/>
          <a:p>
            <a:pPr indent="0" marL="0">
              <a:buNone/>
            </a:pPr>
            <a:r>
              <a:rPr lang="en-US" sz="2300" b="1" dirty="0">
                <a:solidFill>
                  <a:srgbClr val="13233A"/>
                </a:solidFill>
                <a:latin typeface="Aptos Display" pitchFamily="34" charset="0"/>
                <a:ea typeface="Aptos Display" pitchFamily="34" charset="-122"/>
                <a:cs typeface="Aptos Display" pitchFamily="34" charset="-120"/>
              </a:rPr>
              <a:t>Multi-year roadmap: build trust before deep automation</a:t>
            </a:r>
            <a:endParaRPr lang="en-US" sz="2300" dirty="0"/>
          </a:p>
        </p:txBody>
      </p:sp>
      <p:sp>
        <p:nvSpPr>
          <p:cNvPr id="3" name="Text 1"/>
          <p:cNvSpPr/>
          <p:nvPr/>
        </p:nvSpPr>
        <p:spPr>
          <a:xfrm>
            <a:off x="612648" y="786384"/>
            <a:ext cx="10789920" cy="228600"/>
          </a:xfrm>
          <a:prstGeom prst="rect">
            <a:avLst/>
          </a:prstGeom>
          <a:noFill/>
          <a:ln/>
        </p:spPr>
        <p:txBody>
          <a:bodyPr wrap="square" lIns="0" tIns="0" rIns="0" bIns="0" rtlCol="0" anchor="ctr"/>
          <a:lstStyle/>
          <a:p>
            <a:pPr indent="0" marL="0">
              <a:buNone/>
            </a:pPr>
            <a:r>
              <a:rPr lang="en-US" sz="950" dirty="0">
                <a:solidFill>
                  <a:srgbClr val="475569"/>
                </a:solidFill>
              </a:rPr>
              <a:t>Sequence the roadmap so data quality, workflow maturity and governance come before high-stakes AI.</a:t>
            </a:r>
            <a:endParaRPr lang="en-US" sz="950" dirty="0"/>
          </a:p>
        </p:txBody>
      </p:sp>
      <p:sp>
        <p:nvSpPr>
          <p:cNvPr id="4" name="Shape 2"/>
          <p:cNvSpPr/>
          <p:nvPr/>
        </p:nvSpPr>
        <p:spPr>
          <a:xfrm>
            <a:off x="685800" y="1508760"/>
            <a:ext cx="2331720" cy="3886200"/>
          </a:xfrm>
          <a:prstGeom prst="roundRect">
            <a:avLst>
              <a:gd name="adj" fmla="val 3922"/>
            </a:avLst>
          </a:prstGeom>
          <a:solidFill>
            <a:srgbClr val="FFFF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5" name="Text 3"/>
          <p:cNvSpPr/>
          <p:nvPr/>
        </p:nvSpPr>
        <p:spPr>
          <a:xfrm>
            <a:off x="832104" y="1737360"/>
            <a:ext cx="841248" cy="182880"/>
          </a:xfrm>
          <a:prstGeom prst="rect">
            <a:avLst/>
          </a:prstGeom>
          <a:noFill/>
          <a:ln/>
        </p:spPr>
        <p:txBody>
          <a:bodyPr wrap="square" lIns="0" tIns="0" rIns="0" bIns="0" rtlCol="0" anchor="ctr"/>
          <a:lstStyle/>
          <a:p>
            <a:pPr indent="0" marL="0">
              <a:buNone/>
            </a:pPr>
            <a:r>
              <a:rPr lang="en-US" sz="820" b="1" dirty="0">
                <a:solidFill>
                  <a:srgbClr val="EAF2FF"/>
                </a:solidFill>
              </a:rPr>
              <a:t>Year 1</a:t>
            </a:r>
            <a:endParaRPr lang="en-US" sz="820" dirty="0"/>
          </a:p>
        </p:txBody>
      </p:sp>
      <p:sp>
        <p:nvSpPr>
          <p:cNvPr id="6" name="Text 4"/>
          <p:cNvSpPr/>
          <p:nvPr/>
        </p:nvSpPr>
        <p:spPr>
          <a:xfrm>
            <a:off x="832104" y="2029968"/>
            <a:ext cx="1920240" cy="365760"/>
          </a:xfrm>
          <a:prstGeom prst="rect">
            <a:avLst/>
          </a:prstGeom>
          <a:noFill/>
          <a:ln/>
        </p:spPr>
        <p:txBody>
          <a:bodyPr wrap="square" lIns="0" tIns="0" rIns="0" bIns="0" rtlCol="0" anchor="ctr"/>
          <a:lstStyle/>
          <a:p>
            <a:pPr indent="0" marL="0">
              <a:buNone/>
            </a:pPr>
            <a:r>
              <a:rPr lang="en-US" sz="2000" b="1" dirty="0">
                <a:solidFill>
                  <a:srgbClr val="13233A"/>
                </a:solidFill>
              </a:rPr>
              <a:t>Stabilize</a:t>
            </a:r>
            <a:endParaRPr lang="en-US" sz="2000" dirty="0"/>
          </a:p>
        </p:txBody>
      </p:sp>
      <p:sp>
        <p:nvSpPr>
          <p:cNvPr id="7" name="Text 5"/>
          <p:cNvSpPr/>
          <p:nvPr/>
        </p:nvSpPr>
        <p:spPr>
          <a:xfrm>
            <a:off x="914400" y="2816352"/>
            <a:ext cx="1828800" cy="1600200"/>
          </a:xfrm>
          <a:prstGeom prst="rect">
            <a:avLst/>
          </a:prstGeom>
          <a:noFill/>
          <a:ln/>
        </p:spPr>
        <p:txBody>
          <a:bodyPr wrap="square" lIns="127" tIns="127" rIns="127" bIns="127" rtlCol="0" anchor="ctr">
            <a:normAutofit/>
          </a:bodyPr>
          <a:lstStyle/>
          <a:p>
            <a:pPr algn="ctr" indent="0" marL="0">
              <a:buNone/>
            </a:pPr>
            <a:r>
              <a:rPr lang="en-US" sz="940" dirty="0">
                <a:solidFill>
                  <a:srgbClr val="475569"/>
                </a:solidFill>
              </a:rPr>
              <a:t>Master data cleanup</a:t>
            </a:r>
            <a:endParaRPr lang="en-US" sz="940" dirty="0"/>
          </a:p>
          <a:p>
            <a:pPr algn="ctr" indent="0" marL="0">
              <a:buNone/>
            </a:pPr>
            <a:r>
              <a:rPr lang="en-US" sz="940" dirty="0">
                <a:solidFill>
                  <a:srgbClr val="475569"/>
                </a:solidFill>
              </a:rPr>
              <a:t>EDI/HL7 reliability</a:t>
            </a:r>
            <a:endParaRPr lang="en-US" sz="940" dirty="0"/>
          </a:p>
          <a:p>
            <a:pPr algn="ctr" indent="0" marL="0">
              <a:buNone/>
            </a:pPr>
            <a:r>
              <a:rPr lang="en-US" sz="940" dirty="0">
                <a:solidFill>
                  <a:srgbClr val="475569"/>
                </a:solidFill>
              </a:rPr>
              <a:t>Workflow visibility</a:t>
            </a:r>
            <a:endParaRPr lang="en-US" sz="940" dirty="0"/>
          </a:p>
          <a:p>
            <a:pPr algn="ctr" indent="0" marL="0">
              <a:buNone/>
            </a:pPr>
            <a:r>
              <a:rPr lang="en-US" sz="940" dirty="0">
                <a:solidFill>
                  <a:srgbClr val="475569"/>
                </a:solidFill>
              </a:rPr>
              <a:t>Baseline dashboards</a:t>
            </a:r>
            <a:endParaRPr lang="en-US" sz="940" dirty="0"/>
          </a:p>
        </p:txBody>
      </p:sp>
      <p:sp>
        <p:nvSpPr>
          <p:cNvPr id="8" name="Shape 6"/>
          <p:cNvSpPr/>
          <p:nvPr/>
        </p:nvSpPr>
        <p:spPr>
          <a:xfrm>
            <a:off x="3502152" y="1508760"/>
            <a:ext cx="2331720" cy="3886200"/>
          </a:xfrm>
          <a:prstGeom prst="roundRect">
            <a:avLst>
              <a:gd name="adj" fmla="val 3922"/>
            </a:avLst>
          </a:prstGeom>
          <a:solidFill>
            <a:srgbClr val="FFFF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9" name="Text 7"/>
          <p:cNvSpPr/>
          <p:nvPr/>
        </p:nvSpPr>
        <p:spPr>
          <a:xfrm>
            <a:off x="3648456" y="1737360"/>
            <a:ext cx="841248" cy="182880"/>
          </a:xfrm>
          <a:prstGeom prst="rect">
            <a:avLst/>
          </a:prstGeom>
          <a:noFill/>
          <a:ln/>
        </p:spPr>
        <p:txBody>
          <a:bodyPr wrap="square" lIns="0" tIns="0" rIns="0" bIns="0" rtlCol="0" anchor="ctr"/>
          <a:lstStyle/>
          <a:p>
            <a:pPr indent="0" marL="0">
              <a:buNone/>
            </a:pPr>
            <a:r>
              <a:rPr lang="en-US" sz="820" b="1" dirty="0">
                <a:solidFill>
                  <a:srgbClr val="F3EDFF"/>
                </a:solidFill>
              </a:rPr>
              <a:t>Year 2</a:t>
            </a:r>
            <a:endParaRPr lang="en-US" sz="820" dirty="0"/>
          </a:p>
        </p:txBody>
      </p:sp>
      <p:sp>
        <p:nvSpPr>
          <p:cNvPr id="10" name="Text 8"/>
          <p:cNvSpPr/>
          <p:nvPr/>
        </p:nvSpPr>
        <p:spPr>
          <a:xfrm>
            <a:off x="3648456" y="2029968"/>
            <a:ext cx="1920240" cy="365760"/>
          </a:xfrm>
          <a:prstGeom prst="rect">
            <a:avLst/>
          </a:prstGeom>
          <a:noFill/>
          <a:ln/>
        </p:spPr>
        <p:txBody>
          <a:bodyPr wrap="square" lIns="0" tIns="0" rIns="0" bIns="0" rtlCol="0" anchor="ctr"/>
          <a:lstStyle/>
          <a:p>
            <a:pPr indent="0" marL="0">
              <a:buNone/>
            </a:pPr>
            <a:r>
              <a:rPr lang="en-US" sz="2000" b="1" dirty="0">
                <a:solidFill>
                  <a:srgbClr val="13233A"/>
                </a:solidFill>
              </a:rPr>
              <a:t>Automate</a:t>
            </a:r>
            <a:endParaRPr lang="en-US" sz="2000" dirty="0"/>
          </a:p>
        </p:txBody>
      </p:sp>
      <p:sp>
        <p:nvSpPr>
          <p:cNvPr id="11" name="Text 9"/>
          <p:cNvSpPr/>
          <p:nvPr/>
        </p:nvSpPr>
        <p:spPr>
          <a:xfrm>
            <a:off x="3730752" y="2816352"/>
            <a:ext cx="1828800" cy="1600200"/>
          </a:xfrm>
          <a:prstGeom prst="rect">
            <a:avLst/>
          </a:prstGeom>
          <a:noFill/>
          <a:ln/>
        </p:spPr>
        <p:txBody>
          <a:bodyPr wrap="square" lIns="127" tIns="127" rIns="127" bIns="127" rtlCol="0" anchor="ctr">
            <a:normAutofit/>
          </a:bodyPr>
          <a:lstStyle/>
          <a:p>
            <a:pPr algn="ctr" indent="0" marL="0">
              <a:buNone/>
            </a:pPr>
            <a:r>
              <a:rPr lang="en-US" sz="940" dirty="0">
                <a:solidFill>
                  <a:srgbClr val="475569"/>
                </a:solidFill>
              </a:rPr>
              <a:t>Document classification</a:t>
            </a:r>
            <a:endParaRPr lang="en-US" sz="940" dirty="0"/>
          </a:p>
          <a:p>
            <a:pPr algn="ctr" indent="0" marL="0">
              <a:buNone/>
            </a:pPr>
            <a:r>
              <a:rPr lang="en-US" sz="940" dirty="0">
                <a:solidFill>
                  <a:srgbClr val="475569"/>
                </a:solidFill>
              </a:rPr>
              <a:t>Rules optimization</a:t>
            </a:r>
            <a:endParaRPr lang="en-US" sz="940" dirty="0"/>
          </a:p>
          <a:p>
            <a:pPr algn="ctr" indent="0" marL="0">
              <a:buNone/>
            </a:pPr>
            <a:r>
              <a:rPr lang="en-US" sz="940" dirty="0">
                <a:solidFill>
                  <a:srgbClr val="475569"/>
                </a:solidFill>
              </a:rPr>
              <a:t>Auto-routing</a:t>
            </a:r>
            <a:endParaRPr lang="en-US" sz="940" dirty="0"/>
          </a:p>
          <a:p>
            <a:pPr algn="ctr" indent="0" marL="0">
              <a:buNone/>
            </a:pPr>
            <a:r>
              <a:rPr lang="en-US" sz="940" dirty="0">
                <a:solidFill>
                  <a:srgbClr val="475569"/>
                </a:solidFill>
              </a:rPr>
              <a:t>Provider/member defect reduction</a:t>
            </a:r>
            <a:endParaRPr lang="en-US" sz="940" dirty="0"/>
          </a:p>
        </p:txBody>
      </p:sp>
      <p:sp>
        <p:nvSpPr>
          <p:cNvPr id="12" name="Shape 10"/>
          <p:cNvSpPr/>
          <p:nvPr/>
        </p:nvSpPr>
        <p:spPr>
          <a:xfrm>
            <a:off x="6318504" y="1508760"/>
            <a:ext cx="2331720" cy="3886200"/>
          </a:xfrm>
          <a:prstGeom prst="roundRect">
            <a:avLst>
              <a:gd name="adj" fmla="val 3922"/>
            </a:avLst>
          </a:prstGeom>
          <a:solidFill>
            <a:srgbClr val="FFFF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13" name="Text 11"/>
          <p:cNvSpPr/>
          <p:nvPr/>
        </p:nvSpPr>
        <p:spPr>
          <a:xfrm>
            <a:off x="6464808" y="1737360"/>
            <a:ext cx="841248" cy="182880"/>
          </a:xfrm>
          <a:prstGeom prst="rect">
            <a:avLst/>
          </a:prstGeom>
          <a:noFill/>
          <a:ln/>
        </p:spPr>
        <p:txBody>
          <a:bodyPr wrap="square" lIns="0" tIns="0" rIns="0" bIns="0" rtlCol="0" anchor="ctr"/>
          <a:lstStyle/>
          <a:p>
            <a:pPr indent="0" marL="0">
              <a:buNone/>
            </a:pPr>
            <a:r>
              <a:rPr lang="en-US" sz="820" b="1" dirty="0">
                <a:solidFill>
                  <a:srgbClr val="FFF0E8"/>
                </a:solidFill>
              </a:rPr>
              <a:t>Year 3</a:t>
            </a:r>
            <a:endParaRPr lang="en-US" sz="820" dirty="0"/>
          </a:p>
        </p:txBody>
      </p:sp>
      <p:sp>
        <p:nvSpPr>
          <p:cNvPr id="14" name="Text 12"/>
          <p:cNvSpPr/>
          <p:nvPr/>
        </p:nvSpPr>
        <p:spPr>
          <a:xfrm>
            <a:off x="6464808" y="2029968"/>
            <a:ext cx="1920240" cy="365760"/>
          </a:xfrm>
          <a:prstGeom prst="rect">
            <a:avLst/>
          </a:prstGeom>
          <a:noFill/>
          <a:ln/>
        </p:spPr>
        <p:txBody>
          <a:bodyPr wrap="square" lIns="0" tIns="0" rIns="0" bIns="0" rtlCol="0" anchor="ctr"/>
          <a:lstStyle/>
          <a:p>
            <a:pPr indent="0" marL="0">
              <a:buNone/>
            </a:pPr>
            <a:r>
              <a:rPr lang="en-US" sz="2000" b="1" dirty="0">
                <a:solidFill>
                  <a:srgbClr val="13233A"/>
                </a:solidFill>
              </a:rPr>
              <a:t>Intelligence</a:t>
            </a:r>
            <a:endParaRPr lang="en-US" sz="2000" dirty="0"/>
          </a:p>
        </p:txBody>
      </p:sp>
      <p:sp>
        <p:nvSpPr>
          <p:cNvPr id="15" name="Text 13"/>
          <p:cNvSpPr/>
          <p:nvPr/>
        </p:nvSpPr>
        <p:spPr>
          <a:xfrm>
            <a:off x="6547104" y="2816352"/>
            <a:ext cx="1828800" cy="1600200"/>
          </a:xfrm>
          <a:prstGeom prst="rect">
            <a:avLst/>
          </a:prstGeom>
          <a:noFill/>
          <a:ln/>
        </p:spPr>
        <p:txBody>
          <a:bodyPr wrap="square" lIns="127" tIns="127" rIns="127" bIns="127" rtlCol="0" anchor="ctr">
            <a:normAutofit/>
          </a:bodyPr>
          <a:lstStyle/>
          <a:p>
            <a:pPr algn="ctr" indent="0" marL="0">
              <a:buNone/>
            </a:pPr>
            <a:r>
              <a:rPr lang="en-US" sz="940" dirty="0">
                <a:solidFill>
                  <a:srgbClr val="475569"/>
                </a:solidFill>
              </a:rPr>
              <a:t>Evidence summaries</a:t>
            </a:r>
            <a:endParaRPr lang="en-US" sz="940" dirty="0"/>
          </a:p>
          <a:p>
            <a:pPr algn="ctr" indent="0" marL="0">
              <a:buNone/>
            </a:pPr>
            <a:r>
              <a:rPr lang="en-US" sz="940" dirty="0">
                <a:solidFill>
                  <a:srgbClr val="475569"/>
                </a:solidFill>
              </a:rPr>
              <a:t>Prior-auth recommendations</a:t>
            </a:r>
            <a:endParaRPr lang="en-US" sz="940" dirty="0"/>
          </a:p>
          <a:p>
            <a:pPr algn="ctr" indent="0" marL="0">
              <a:buNone/>
            </a:pPr>
            <a:r>
              <a:rPr lang="en-US" sz="940" dirty="0">
                <a:solidFill>
                  <a:srgbClr val="475569"/>
                </a:solidFill>
              </a:rPr>
              <a:t>Payment anomaly detection</a:t>
            </a:r>
            <a:endParaRPr lang="en-US" sz="940" dirty="0"/>
          </a:p>
          <a:p>
            <a:pPr algn="ctr" indent="0" marL="0">
              <a:buNone/>
            </a:pPr>
            <a:r>
              <a:rPr lang="en-US" sz="940" dirty="0">
                <a:solidFill>
                  <a:srgbClr val="475569"/>
                </a:solidFill>
              </a:rPr>
              <a:t>Care-gap prioritization</a:t>
            </a:r>
            <a:endParaRPr lang="en-US" sz="940" dirty="0"/>
          </a:p>
        </p:txBody>
      </p:sp>
      <p:sp>
        <p:nvSpPr>
          <p:cNvPr id="16" name="Shape 14"/>
          <p:cNvSpPr/>
          <p:nvPr/>
        </p:nvSpPr>
        <p:spPr>
          <a:xfrm>
            <a:off x="9134856" y="1508760"/>
            <a:ext cx="2331720" cy="3886200"/>
          </a:xfrm>
          <a:prstGeom prst="roundRect">
            <a:avLst>
              <a:gd name="adj" fmla="val 3922"/>
            </a:avLst>
          </a:prstGeom>
          <a:solidFill>
            <a:srgbClr val="FFFFFF"/>
          </a:solidFill>
          <a:ln w="11430">
            <a:solidFill>
              <a:srgbClr val="D6DEE9"/>
            </a:solidFill>
            <a:prstDash val="solid"/>
          </a:ln>
          <a:effectLst>
            <a:outerShdw sx="100000" sy="100000" kx="0" ky="0" algn="bl" rotWithShape="0" blurRad="12700" dist="50800" dir="2700000">
              <a:srgbClr val="CBD5E1">
                <a:alpha val="16000"/>
              </a:srgbClr>
            </a:outerShdw>
          </a:effectLst>
        </p:spPr>
      </p:sp>
      <p:sp>
        <p:nvSpPr>
          <p:cNvPr id="17" name="Text 15"/>
          <p:cNvSpPr/>
          <p:nvPr/>
        </p:nvSpPr>
        <p:spPr>
          <a:xfrm>
            <a:off x="9281160" y="1737360"/>
            <a:ext cx="841248" cy="182880"/>
          </a:xfrm>
          <a:prstGeom prst="rect">
            <a:avLst/>
          </a:prstGeom>
          <a:noFill/>
          <a:ln/>
        </p:spPr>
        <p:txBody>
          <a:bodyPr wrap="square" lIns="0" tIns="0" rIns="0" bIns="0" rtlCol="0" anchor="ctr"/>
          <a:lstStyle/>
          <a:p>
            <a:pPr indent="0" marL="0">
              <a:buNone/>
            </a:pPr>
            <a:r>
              <a:rPr lang="en-US" sz="820" b="1" dirty="0">
                <a:solidFill>
                  <a:srgbClr val="EAF7F0"/>
                </a:solidFill>
              </a:rPr>
              <a:t>Year 4</a:t>
            </a:r>
            <a:endParaRPr lang="en-US" sz="820" dirty="0"/>
          </a:p>
        </p:txBody>
      </p:sp>
      <p:sp>
        <p:nvSpPr>
          <p:cNvPr id="18" name="Text 16"/>
          <p:cNvSpPr/>
          <p:nvPr/>
        </p:nvSpPr>
        <p:spPr>
          <a:xfrm>
            <a:off x="9281160" y="2029968"/>
            <a:ext cx="1920240" cy="365760"/>
          </a:xfrm>
          <a:prstGeom prst="rect">
            <a:avLst/>
          </a:prstGeom>
          <a:noFill/>
          <a:ln/>
        </p:spPr>
        <p:txBody>
          <a:bodyPr wrap="square" lIns="0" tIns="0" rIns="0" bIns="0" rtlCol="0" anchor="ctr"/>
          <a:lstStyle/>
          <a:p>
            <a:pPr indent="0" marL="0">
              <a:buNone/>
            </a:pPr>
            <a:r>
              <a:rPr lang="en-US" sz="2000" b="1" dirty="0">
                <a:solidFill>
                  <a:srgbClr val="13233A"/>
                </a:solidFill>
              </a:rPr>
              <a:t>Optimize</a:t>
            </a:r>
            <a:endParaRPr lang="en-US" sz="2000" dirty="0"/>
          </a:p>
        </p:txBody>
      </p:sp>
      <p:sp>
        <p:nvSpPr>
          <p:cNvPr id="19" name="Text 17"/>
          <p:cNvSpPr/>
          <p:nvPr/>
        </p:nvSpPr>
        <p:spPr>
          <a:xfrm>
            <a:off x="9363456" y="2816352"/>
            <a:ext cx="1828800" cy="1600200"/>
          </a:xfrm>
          <a:prstGeom prst="rect">
            <a:avLst/>
          </a:prstGeom>
          <a:noFill/>
          <a:ln/>
        </p:spPr>
        <p:txBody>
          <a:bodyPr wrap="square" lIns="127" tIns="127" rIns="127" bIns="127" rtlCol="0" anchor="ctr">
            <a:normAutofit/>
          </a:bodyPr>
          <a:lstStyle/>
          <a:p>
            <a:pPr algn="ctr" indent="0" marL="0">
              <a:buNone/>
            </a:pPr>
            <a:r>
              <a:rPr lang="en-US" sz="940" dirty="0">
                <a:solidFill>
                  <a:srgbClr val="475569"/>
                </a:solidFill>
              </a:rPr>
              <a:t>Capacity planning</a:t>
            </a:r>
            <a:endParaRPr lang="en-US" sz="940" dirty="0"/>
          </a:p>
          <a:p>
            <a:pPr algn="ctr" indent="0" marL="0">
              <a:buNone/>
            </a:pPr>
            <a:r>
              <a:rPr lang="en-US" sz="940" dirty="0">
                <a:solidFill>
                  <a:srgbClr val="475569"/>
                </a:solidFill>
              </a:rPr>
              <a:t>Closed-loop model learning</a:t>
            </a:r>
            <a:endParaRPr lang="en-US" sz="940" dirty="0"/>
          </a:p>
          <a:p>
            <a:pPr algn="ctr" indent="0" marL="0">
              <a:buNone/>
            </a:pPr>
            <a:r>
              <a:rPr lang="en-US" sz="940" dirty="0">
                <a:solidFill>
                  <a:srgbClr val="475569"/>
                </a:solidFill>
              </a:rPr>
              <a:t>Policy simulation</a:t>
            </a:r>
            <a:endParaRPr lang="en-US" sz="940" dirty="0"/>
          </a:p>
          <a:p>
            <a:pPr algn="ctr" indent="0" marL="0">
              <a:buNone/>
            </a:pPr>
            <a:r>
              <a:rPr lang="en-US" sz="940" dirty="0">
                <a:solidFill>
                  <a:srgbClr val="475569"/>
                </a:solidFill>
              </a:rPr>
              <a:t>Executive portfolio control</a:t>
            </a:r>
            <a:endParaRPr lang="en-US" sz="940" dirty="0"/>
          </a:p>
        </p:txBody>
      </p:sp>
      <p:sp>
        <p:nvSpPr>
          <p:cNvPr id="20" name="Shape 18"/>
          <p:cNvSpPr/>
          <p:nvPr/>
        </p:nvSpPr>
        <p:spPr>
          <a:xfrm>
            <a:off x="914400" y="5870448"/>
            <a:ext cx="10241280" cy="0"/>
          </a:xfrm>
          <a:prstGeom prst="line">
            <a:avLst/>
          </a:prstGeom>
          <a:noFill/>
          <a:ln w="12700">
            <a:solidFill>
              <a:srgbClr val="D6DEE9"/>
            </a:solidFill>
            <a:prstDash val="solid"/>
          </a:ln>
        </p:spPr>
      </p:sp>
      <p:sp>
        <p:nvSpPr>
          <p:cNvPr id="21" name="Text 19"/>
          <p:cNvSpPr/>
          <p:nvPr/>
        </p:nvSpPr>
        <p:spPr>
          <a:xfrm>
            <a:off x="1143000" y="6080760"/>
            <a:ext cx="9875520" cy="164592"/>
          </a:xfrm>
          <a:prstGeom prst="rect">
            <a:avLst/>
          </a:prstGeom>
          <a:noFill/>
          <a:ln/>
        </p:spPr>
        <p:txBody>
          <a:bodyPr wrap="square" lIns="0" tIns="0" rIns="0" bIns="0" rtlCol="0" anchor="ctr"/>
          <a:lstStyle/>
          <a:p>
            <a:pPr algn="ctr" indent="0" marL="0">
              <a:buNone/>
            </a:pPr>
            <a:r>
              <a:rPr lang="en-US" sz="1000" b="1" dirty="0">
                <a:solidFill>
                  <a:srgbClr val="475569"/>
                </a:solidFill>
              </a:rPr>
              <a:t>Prioritization lens: customer impact × operational value × compliance risk × data readiness × engineering effort</a:t>
            </a:r>
            <a:endParaRPr lang="en-US" sz="100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33A"/>
        </a:solidFill>
      </p:bgPr>
    </p:bg>
    <p:spTree>
      <p:nvGrpSpPr>
        <p:cNvPr id="1" name=""/>
        <p:cNvGrpSpPr/>
        <p:nvPr/>
      </p:nvGrpSpPr>
      <p:grpSpPr>
        <a:xfrm>
          <a:off x="0" y="0"/>
          <a:ext cx="0" cy="0"/>
          <a:chOff x="0" y="0"/>
          <a:chExt cx="0" cy="0"/>
        </a:xfrm>
      </p:grpSpPr>
      <p:sp>
        <p:nvSpPr>
          <p:cNvPr id="2" name="Shape 0"/>
          <p:cNvSpPr/>
          <p:nvPr/>
        </p:nvSpPr>
        <p:spPr>
          <a:xfrm>
            <a:off x="6492240" y="274320"/>
            <a:ext cx="4754880" cy="4754880"/>
          </a:xfrm>
          <a:prstGeom prst="arc">
            <a:avLst/>
          </a:prstGeom>
          <a:solidFill>
            <a:srgbClr val="13233A">
              <a:alpha val="0"/>
            </a:srgbClr>
          </a:solidFill>
          <a:ln w="15240">
            <a:solidFill>
              <a:srgbClr val="51B9E8">
                <a:alpha val="24000"/>
              </a:srgbClr>
            </a:solidFill>
            <a:prstDash val="solid"/>
          </a:ln>
        </p:spPr>
      </p:sp>
      <p:sp>
        <p:nvSpPr>
          <p:cNvPr id="3" name="Text 1"/>
          <p:cNvSpPr/>
          <p:nvPr/>
        </p:nvSpPr>
        <p:spPr>
          <a:xfrm>
            <a:off x="658368" y="749808"/>
            <a:ext cx="2743200" cy="201168"/>
          </a:xfrm>
          <a:prstGeom prst="rect">
            <a:avLst/>
          </a:prstGeom>
          <a:noFill/>
          <a:ln/>
        </p:spPr>
        <p:txBody>
          <a:bodyPr wrap="square" lIns="0" tIns="0" rIns="0" bIns="0" rtlCol="0" anchor="ctr"/>
          <a:lstStyle/>
          <a:p>
            <a:pPr indent="0" marL="0">
              <a:buNone/>
            </a:pPr>
            <a:r>
              <a:rPr lang="en-US" sz="1000" b="1" dirty="0">
                <a:solidFill>
                  <a:srgbClr val="A6C8ED"/>
                </a:solidFill>
              </a:rPr>
              <a:t>Closing message</a:t>
            </a:r>
            <a:endParaRPr lang="en-US" sz="1000" dirty="0"/>
          </a:p>
        </p:txBody>
      </p:sp>
      <p:sp>
        <p:nvSpPr>
          <p:cNvPr id="4" name="Text 2"/>
          <p:cNvSpPr/>
          <p:nvPr/>
        </p:nvSpPr>
        <p:spPr>
          <a:xfrm>
            <a:off x="658368" y="1234440"/>
            <a:ext cx="7772400" cy="457200"/>
          </a:xfrm>
          <a:prstGeom prst="rect">
            <a:avLst/>
          </a:prstGeom>
          <a:noFill/>
          <a:ln/>
        </p:spPr>
        <p:txBody>
          <a:bodyPr wrap="square" lIns="0" tIns="0" rIns="0" bIns="0" rtlCol="0" anchor="ctr"/>
          <a:lstStyle/>
          <a:p>
            <a:pPr indent="0" marL="0">
              <a:buNone/>
            </a:pPr>
            <a:r>
              <a:rPr lang="en-US" sz="2800" b="1" dirty="0">
                <a:solidFill>
                  <a:srgbClr val="FFFFFF"/>
                </a:solidFill>
              </a:rPr>
              <a:t>What I would want the room to remember</a:t>
            </a:r>
            <a:endParaRPr lang="en-US" sz="2800" dirty="0"/>
          </a:p>
        </p:txBody>
      </p:sp>
      <p:sp>
        <p:nvSpPr>
          <p:cNvPr id="5" name="Shape 3"/>
          <p:cNvSpPr/>
          <p:nvPr/>
        </p:nvSpPr>
        <p:spPr>
          <a:xfrm>
            <a:off x="804672" y="2331720"/>
            <a:ext cx="8183880" cy="621792"/>
          </a:xfrm>
          <a:prstGeom prst="roundRect">
            <a:avLst>
              <a:gd name="adj" fmla="val 11765"/>
            </a:avLst>
          </a:prstGeom>
          <a:solidFill>
            <a:srgbClr val="183253"/>
          </a:solidFill>
          <a:ln w="12700">
            <a:solidFill>
              <a:srgbClr val="335476"/>
            </a:solidFill>
            <a:prstDash val="solid"/>
          </a:ln>
        </p:spPr>
      </p:sp>
      <p:sp>
        <p:nvSpPr>
          <p:cNvPr id="6" name="Text 4"/>
          <p:cNvSpPr/>
          <p:nvPr/>
        </p:nvSpPr>
        <p:spPr>
          <a:xfrm>
            <a:off x="1024128" y="2478024"/>
            <a:ext cx="2286000" cy="173736"/>
          </a:xfrm>
          <a:prstGeom prst="rect">
            <a:avLst/>
          </a:prstGeom>
          <a:noFill/>
          <a:ln/>
        </p:spPr>
        <p:txBody>
          <a:bodyPr wrap="square" lIns="0" tIns="0" rIns="0" bIns="0" rtlCol="0" anchor="ctr"/>
          <a:lstStyle/>
          <a:p>
            <a:pPr indent="0" marL="0">
              <a:buNone/>
            </a:pPr>
            <a:r>
              <a:rPr lang="en-US" sz="980" b="1" dirty="0">
                <a:solidFill>
                  <a:srgbClr val="D5E8FF"/>
                </a:solidFill>
              </a:rPr>
              <a:t>Enterprise product thinking</a:t>
            </a:r>
            <a:endParaRPr lang="en-US" sz="980" dirty="0"/>
          </a:p>
        </p:txBody>
      </p:sp>
      <p:sp>
        <p:nvSpPr>
          <p:cNvPr id="7" name="Text 5"/>
          <p:cNvSpPr/>
          <p:nvPr/>
        </p:nvSpPr>
        <p:spPr>
          <a:xfrm>
            <a:off x="3429000" y="2459736"/>
            <a:ext cx="5120640" cy="228600"/>
          </a:xfrm>
          <a:prstGeom prst="rect">
            <a:avLst/>
          </a:prstGeom>
          <a:noFill/>
          <a:ln/>
        </p:spPr>
        <p:txBody>
          <a:bodyPr wrap="square" lIns="0" tIns="0" rIns="0" bIns="0" rtlCol="0" anchor="ctr">
            <a:normAutofit/>
          </a:bodyPr>
          <a:lstStyle/>
          <a:p>
            <a:pPr indent="0" marL="0">
              <a:buNone/>
            </a:pPr>
            <a:r>
              <a:rPr lang="en-US" sz="1080" dirty="0">
                <a:solidFill>
                  <a:srgbClr val="FFFFFF"/>
                </a:solidFill>
              </a:rPr>
              <a:t>I can map a complex payer ecosystem into a manageable portfolio of products.</a:t>
            </a:r>
            <a:endParaRPr lang="en-US" sz="1080" dirty="0"/>
          </a:p>
        </p:txBody>
      </p:sp>
      <p:sp>
        <p:nvSpPr>
          <p:cNvPr id="8" name="Shape 6"/>
          <p:cNvSpPr/>
          <p:nvPr/>
        </p:nvSpPr>
        <p:spPr>
          <a:xfrm>
            <a:off x="804672" y="3291840"/>
            <a:ext cx="8183880" cy="621792"/>
          </a:xfrm>
          <a:prstGeom prst="roundRect">
            <a:avLst>
              <a:gd name="adj" fmla="val 11765"/>
            </a:avLst>
          </a:prstGeom>
          <a:solidFill>
            <a:srgbClr val="183253"/>
          </a:solidFill>
          <a:ln w="12700">
            <a:solidFill>
              <a:srgbClr val="335476"/>
            </a:solidFill>
            <a:prstDash val="solid"/>
          </a:ln>
        </p:spPr>
      </p:sp>
      <p:sp>
        <p:nvSpPr>
          <p:cNvPr id="9" name="Text 7"/>
          <p:cNvSpPr/>
          <p:nvPr/>
        </p:nvSpPr>
        <p:spPr>
          <a:xfrm>
            <a:off x="1024128" y="3438144"/>
            <a:ext cx="2286000" cy="173736"/>
          </a:xfrm>
          <a:prstGeom prst="rect">
            <a:avLst/>
          </a:prstGeom>
          <a:noFill/>
          <a:ln/>
        </p:spPr>
        <p:txBody>
          <a:bodyPr wrap="square" lIns="0" tIns="0" rIns="0" bIns="0" rtlCol="0" anchor="ctr"/>
          <a:lstStyle/>
          <a:p>
            <a:pPr indent="0" marL="0">
              <a:buNone/>
            </a:pPr>
            <a:r>
              <a:rPr lang="en-US" sz="980" b="1" dirty="0">
                <a:solidFill>
                  <a:srgbClr val="D5E8FF"/>
                </a:solidFill>
              </a:rPr>
              <a:t>AI with operational discipline</a:t>
            </a:r>
            <a:endParaRPr lang="en-US" sz="980" dirty="0"/>
          </a:p>
        </p:txBody>
      </p:sp>
      <p:sp>
        <p:nvSpPr>
          <p:cNvPr id="10" name="Text 8"/>
          <p:cNvSpPr/>
          <p:nvPr/>
        </p:nvSpPr>
        <p:spPr>
          <a:xfrm>
            <a:off x="3429000" y="3419856"/>
            <a:ext cx="5120640" cy="228600"/>
          </a:xfrm>
          <a:prstGeom prst="rect">
            <a:avLst/>
          </a:prstGeom>
          <a:noFill/>
          <a:ln/>
        </p:spPr>
        <p:txBody>
          <a:bodyPr wrap="square" lIns="0" tIns="0" rIns="0" bIns="0" rtlCol="0" anchor="ctr">
            <a:normAutofit/>
          </a:bodyPr>
          <a:lstStyle/>
          <a:p>
            <a:pPr indent="0" marL="0">
              <a:buNone/>
            </a:pPr>
            <a:r>
              <a:rPr lang="en-US" sz="1080" dirty="0">
                <a:solidFill>
                  <a:srgbClr val="FFFFFF"/>
                </a:solidFill>
              </a:rPr>
              <a:t>I use AI to assist, prioritize, detect and optimize — while preserving human accountability.</a:t>
            </a:r>
            <a:endParaRPr lang="en-US" sz="1080" dirty="0"/>
          </a:p>
        </p:txBody>
      </p:sp>
      <p:sp>
        <p:nvSpPr>
          <p:cNvPr id="11" name="Shape 9"/>
          <p:cNvSpPr/>
          <p:nvPr/>
        </p:nvSpPr>
        <p:spPr>
          <a:xfrm>
            <a:off x="804672" y="4251960"/>
            <a:ext cx="8183880" cy="621792"/>
          </a:xfrm>
          <a:prstGeom prst="roundRect">
            <a:avLst>
              <a:gd name="adj" fmla="val 11765"/>
            </a:avLst>
          </a:prstGeom>
          <a:solidFill>
            <a:srgbClr val="183253"/>
          </a:solidFill>
          <a:ln w="12700">
            <a:solidFill>
              <a:srgbClr val="335476"/>
            </a:solidFill>
            <a:prstDash val="solid"/>
          </a:ln>
        </p:spPr>
      </p:sp>
      <p:sp>
        <p:nvSpPr>
          <p:cNvPr id="12" name="Text 10"/>
          <p:cNvSpPr/>
          <p:nvPr/>
        </p:nvSpPr>
        <p:spPr>
          <a:xfrm>
            <a:off x="1024128" y="4398264"/>
            <a:ext cx="2286000" cy="173736"/>
          </a:xfrm>
          <a:prstGeom prst="rect">
            <a:avLst/>
          </a:prstGeom>
          <a:noFill/>
          <a:ln/>
        </p:spPr>
        <p:txBody>
          <a:bodyPr wrap="square" lIns="0" tIns="0" rIns="0" bIns="0" rtlCol="0" anchor="ctr"/>
          <a:lstStyle/>
          <a:p>
            <a:pPr indent="0" marL="0">
              <a:buNone/>
            </a:pPr>
            <a:r>
              <a:rPr lang="en-US" sz="980" b="1" dirty="0">
                <a:solidFill>
                  <a:srgbClr val="D5E8FF"/>
                </a:solidFill>
              </a:rPr>
              <a:t>Measurable outcomes</a:t>
            </a:r>
            <a:endParaRPr lang="en-US" sz="980" dirty="0"/>
          </a:p>
        </p:txBody>
      </p:sp>
      <p:sp>
        <p:nvSpPr>
          <p:cNvPr id="13" name="Text 11"/>
          <p:cNvSpPr/>
          <p:nvPr/>
        </p:nvSpPr>
        <p:spPr>
          <a:xfrm>
            <a:off x="3429000" y="4379976"/>
            <a:ext cx="5120640" cy="228600"/>
          </a:xfrm>
          <a:prstGeom prst="rect">
            <a:avLst/>
          </a:prstGeom>
          <a:noFill/>
          <a:ln/>
        </p:spPr>
        <p:txBody>
          <a:bodyPr wrap="square" lIns="0" tIns="0" rIns="0" bIns="0" rtlCol="0" anchor="ctr">
            <a:normAutofit/>
          </a:bodyPr>
          <a:lstStyle/>
          <a:p>
            <a:pPr indent="0" marL="0">
              <a:buNone/>
            </a:pPr>
            <a:r>
              <a:rPr lang="en-US" sz="1080" dirty="0">
                <a:solidFill>
                  <a:srgbClr val="FFFFFF"/>
                </a:solidFill>
              </a:rPr>
              <a:t>I connect roadmaps to cycle time, accuracy, compliance, cost, quality and customer experience.</a:t>
            </a:r>
            <a:endParaRPr lang="en-US" sz="1080" dirty="0"/>
          </a:p>
        </p:txBody>
      </p:sp>
      <p:sp>
        <p:nvSpPr>
          <p:cNvPr id="14" name="Text 12"/>
          <p:cNvSpPr/>
          <p:nvPr/>
        </p:nvSpPr>
        <p:spPr>
          <a:xfrm>
            <a:off x="987552" y="5559552"/>
            <a:ext cx="9692640" cy="402336"/>
          </a:xfrm>
          <a:prstGeom prst="rect">
            <a:avLst/>
          </a:prstGeom>
          <a:noFill/>
          <a:ln/>
        </p:spPr>
        <p:txBody>
          <a:bodyPr wrap="square" lIns="0" tIns="0" rIns="0" bIns="0" rtlCol="0" anchor="ctr">
            <a:normAutofit/>
          </a:bodyPr>
          <a:lstStyle/>
          <a:p>
            <a:pPr algn="ctr" indent="0" marL="0">
              <a:buNone/>
            </a:pPr>
            <a:r>
              <a:rPr lang="en-US" sz="1400" i="1" dirty="0">
                <a:solidFill>
                  <a:srgbClr val="ECF4FF"/>
                </a:solidFill>
              </a:rPr>
              <a:t>“I do not see this as 11 applications. I see it as one connected healthcare operating system, with AI layered in where it improves speed, accuracy, trust and outcomes.”</a:t>
            </a:r>
            <a:endParaRPr lang="en-US" sz="1400" dirty="0"/>
          </a:p>
        </p:txBody>
      </p:sp>
      <p:sp>
        <p:nvSpPr>
          <p:cNvPr id="25" name="Slide Number Placeholder 0"/>
          <p:cNvSpPr>
            <a:spLocks noGrp="1"/>
          </p:cNvSpPr>
          <p:nvPr>
            <p:ph type="sldNum" sz="quarter" idx="4294967295"/>
          </p:nvPr>
        </p:nvSpPr>
        <p:spPr>
          <a:xfrm>
            <a:off x="11384280"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280"/>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Guiding Principles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Healthcare Payer Platform</dc:title>
  <dc:subject>Enterprise Healthcare Payer Platform Product Portfolio &amp; AI Transformation</dc:subject>
  <dc:creator>OpenAI</dc:creator>
  <cp:lastModifiedBy>OpenAI</cp:lastModifiedBy>
  <cp:revision>1</cp:revision>
  <dcterms:created xsi:type="dcterms:W3CDTF">2026-07-29T22:51:54Z</dcterms:created>
  <dcterms:modified xsi:type="dcterms:W3CDTF">2026-07-29T22:51:54Z</dcterms:modified>
</cp:coreProperties>
</file>